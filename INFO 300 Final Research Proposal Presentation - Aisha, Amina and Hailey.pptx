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unito"/>
      <p:regular r:id="rId18"/>
      <p:bold r:id="rId19"/>
      <p:italic r:id="rId20"/>
      <p:boldItalic r:id="rId21"/>
    </p:embeddedFont>
    <p:embeddedFont>
      <p:font typeface="Maven Pro"/>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6.xml"/><Relationship Id="rId22" Type="http://schemas.openxmlformats.org/officeDocument/2006/relationships/font" Target="fonts/MavenPro-regular.fntdata"/><Relationship Id="rId10" Type="http://schemas.openxmlformats.org/officeDocument/2006/relationships/slide" Target="slides/slide5.xml"/><Relationship Id="rId21"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MavenPr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bold.fntdata"/><Relationship Id="rId6" Type="http://schemas.openxmlformats.org/officeDocument/2006/relationships/slide" Target="slides/slide1.xml"/><Relationship Id="rId18"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e55bc3c49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e55bc3c49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Aisha -</a:t>
            </a:r>
            <a:endParaRPr sz="1400"/>
          </a:p>
          <a:p>
            <a:pPr indent="0" lvl="0" marL="0" rtl="0" algn="l">
              <a:spcBef>
                <a:spcPts val="0"/>
              </a:spcBef>
              <a:spcAft>
                <a:spcPts val="0"/>
              </a:spcAft>
              <a:buNone/>
            </a:pPr>
            <a:r>
              <a:rPr lang="en" sz="1400"/>
              <a:t>A key problem with digital activism is that platforms visibility is controlled by algorithms and moderation systems, rather than being completely neutral. During civic discourse, these systems influence which voices and movements receive attention.</a:t>
            </a:r>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ec89860891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ec89860891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Aisha</a:t>
            </a:r>
            <a:endParaRPr sz="1400"/>
          </a:p>
          <a:p>
            <a:pPr indent="-317500" lvl="0" marL="457200" rtl="0" algn="l">
              <a:spcBef>
                <a:spcPts val="0"/>
              </a:spcBef>
              <a:spcAft>
                <a:spcPts val="0"/>
              </a:spcAft>
              <a:buSzPts val="1400"/>
              <a:buChar char="-"/>
            </a:pPr>
            <a:r>
              <a:rPr lang="en" sz="1400"/>
              <a:t>Some of the literature we reviewed shows that these platforms provide important opportunities for activism and participation. </a:t>
            </a:r>
            <a:r>
              <a:rPr lang="en" sz="1400"/>
              <a:t>Allowing</a:t>
            </a:r>
            <a:r>
              <a:rPr lang="en" sz="1400"/>
              <a:t> activist to connect and organize </a:t>
            </a:r>
            <a:r>
              <a:rPr lang="en" sz="1400"/>
              <a:t>locally</a:t>
            </a:r>
            <a:r>
              <a:rPr lang="en" sz="1400"/>
              <a:t> and globally. </a:t>
            </a:r>
            <a:endParaRPr sz="1400"/>
          </a:p>
          <a:p>
            <a:pPr indent="-317500" lvl="0" marL="457200" rtl="0" algn="l">
              <a:spcBef>
                <a:spcPts val="0"/>
              </a:spcBef>
              <a:spcAft>
                <a:spcPts val="0"/>
              </a:spcAft>
              <a:buSzPts val="1400"/>
              <a:buChar char="-"/>
            </a:pPr>
            <a:r>
              <a:rPr lang="en" sz="1400"/>
              <a:t>However, many activists who face barriers in participating </a:t>
            </a:r>
            <a:r>
              <a:rPr lang="en" sz="1400"/>
              <a:t>rely</a:t>
            </a:r>
            <a:r>
              <a:rPr lang="en" sz="1400"/>
              <a:t> heavily on platform visibility to have their voices heard. Making them </a:t>
            </a:r>
            <a:r>
              <a:rPr lang="en" sz="1400"/>
              <a:t>vulnerable</a:t>
            </a:r>
            <a:r>
              <a:rPr lang="en" sz="1400"/>
              <a:t> to </a:t>
            </a:r>
            <a:r>
              <a:rPr lang="en" sz="1400"/>
              <a:t>algorithms.</a:t>
            </a:r>
            <a:r>
              <a:rPr lang="en" sz="1400"/>
              <a:t>  </a:t>
            </a:r>
            <a:endParaRPr sz="1400"/>
          </a:p>
          <a:p>
            <a:pPr indent="-317500" lvl="0" marL="457200" rtl="0" algn="l">
              <a:spcBef>
                <a:spcPts val="0"/>
              </a:spcBef>
              <a:spcAft>
                <a:spcPts val="0"/>
              </a:spcAft>
              <a:buSzPts val="1400"/>
              <a:buChar char="-"/>
            </a:pPr>
            <a:r>
              <a:rPr lang="en" sz="1400"/>
              <a:t>While online activism can increase accessibility, it also expose those users to privacy and safety concerns.</a:t>
            </a:r>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e55bc3c49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e55bc3c49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Hailey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ec864fffb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ec864fffb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Hailey </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
              <a:t>Objectives</a:t>
            </a:r>
            <a:endParaRPr b="1"/>
          </a:p>
          <a:p>
            <a:pPr indent="-298450" lvl="0" marL="457200" rtl="0" algn="l">
              <a:spcBef>
                <a:spcPts val="0"/>
              </a:spcBef>
              <a:spcAft>
                <a:spcPts val="0"/>
              </a:spcAft>
              <a:buSzPts val="1100"/>
              <a:buChar char="-"/>
            </a:pPr>
            <a:r>
              <a:rPr lang="en"/>
              <a:t>How users perceive algorithmic bias and suppression</a:t>
            </a:r>
            <a:endParaRPr/>
          </a:p>
          <a:p>
            <a:pPr indent="-298450" lvl="0" marL="457200" rtl="0" algn="l">
              <a:spcBef>
                <a:spcPts val="0"/>
              </a:spcBef>
              <a:spcAft>
                <a:spcPts val="0"/>
              </a:spcAft>
              <a:buSzPts val="1100"/>
              <a:buChar char="-"/>
            </a:pPr>
            <a:r>
              <a:rPr lang="en"/>
              <a:t>How activist content gains or loses visibility online</a:t>
            </a:r>
            <a:endParaRPr/>
          </a:p>
          <a:p>
            <a:pPr indent="-298450" lvl="0" marL="457200" rtl="0" algn="l">
              <a:spcBef>
                <a:spcPts val="0"/>
              </a:spcBef>
              <a:spcAft>
                <a:spcPts val="0"/>
              </a:spcAft>
              <a:buSzPts val="1100"/>
              <a:buChar char="-"/>
            </a:pPr>
            <a:r>
              <a:rPr lang="en"/>
              <a:t>How users change posting behavior to maintain engagement</a:t>
            </a:r>
            <a:endParaRPr/>
          </a:p>
          <a:p>
            <a:pPr indent="-298450" lvl="0" marL="457200" rtl="0" algn="l">
              <a:spcBef>
                <a:spcPts val="0"/>
              </a:spcBef>
              <a:spcAft>
                <a:spcPts val="0"/>
              </a:spcAft>
              <a:buSzPts val="1100"/>
              <a:buChar char="-"/>
            </a:pPr>
            <a:r>
              <a:rPr lang="en"/>
              <a:t>Especially focusing on </a:t>
            </a:r>
            <a:r>
              <a:rPr lang="en"/>
              <a:t>activist</a:t>
            </a:r>
            <a:r>
              <a:rPr lang="en"/>
              <a:t> content from underrepresented communities</a:t>
            </a:r>
            <a:endParaRPr/>
          </a:p>
          <a:p>
            <a:pPr indent="-298450" lvl="0" marL="457200" rtl="0" algn="l">
              <a:spcBef>
                <a:spcPts val="0"/>
              </a:spcBef>
              <a:spcAft>
                <a:spcPts val="0"/>
              </a:spcAft>
              <a:buSzPts val="1100"/>
              <a:buChar char="-"/>
            </a:pPr>
            <a:r>
              <a:rPr lang="en"/>
              <a:t>TikTok, Instagram, and X.</a:t>
            </a:r>
            <a:endParaRPr/>
          </a:p>
          <a:p>
            <a:pPr indent="-298450" lvl="0" marL="457200" rtl="0" algn="l">
              <a:spcBef>
                <a:spcPts val="0"/>
              </a:spcBef>
              <a:spcAft>
                <a:spcPts val="0"/>
              </a:spcAft>
              <a:buSzPts val="1100"/>
              <a:buChar char="-"/>
            </a:pPr>
            <a:r>
              <a:rPr lang="en"/>
              <a:t>Instead of only looking at engagement numbers like likes, comments, and shares, we also want to understand users’ personal experiences.</a:t>
            </a:r>
            <a:endParaRPr/>
          </a:p>
          <a:p>
            <a:pPr indent="-298450" lvl="0" marL="457200" rtl="0" algn="l">
              <a:spcBef>
                <a:spcPts val="0"/>
              </a:spcBef>
              <a:spcAft>
                <a:spcPts val="0"/>
              </a:spcAft>
              <a:buSzPts val="1100"/>
              <a:buChar char="-"/>
            </a:pPr>
            <a:r>
              <a:rPr lang="en"/>
              <a:t>whether users feel that certain activist topics or voices are amplified while others are suppressed.</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
              <a:t>Outcome </a:t>
            </a:r>
            <a:endParaRPr b="1"/>
          </a:p>
          <a:p>
            <a:pPr indent="-298450" lvl="0" marL="457200" rtl="0" algn="l">
              <a:spcBef>
                <a:spcPts val="0"/>
              </a:spcBef>
              <a:spcAft>
                <a:spcPts val="0"/>
              </a:spcAft>
              <a:buSzPts val="1100"/>
              <a:buChar char="-"/>
            </a:pPr>
            <a:r>
              <a:rPr lang="en"/>
              <a:t>Identify common themes about visibility, platform trust, censorship, and user adaptation.</a:t>
            </a:r>
            <a:endParaRPr/>
          </a:p>
          <a:p>
            <a:pPr indent="-298450" lvl="0" marL="457200" rtl="0" algn="l">
              <a:lnSpc>
                <a:spcPct val="115000"/>
              </a:lnSpc>
              <a:spcBef>
                <a:spcPts val="0"/>
              </a:spcBef>
              <a:spcAft>
                <a:spcPts val="0"/>
              </a:spcAft>
              <a:buClr>
                <a:schemeClr val="dk1"/>
              </a:buClr>
              <a:buSzPts val="1100"/>
              <a:buChar char="-"/>
            </a:pPr>
            <a:r>
              <a:rPr lang="en"/>
              <a:t>Overall, this study hopes to contribute to broader conversations about transparency, fairness, and representation in digital spaces.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e55bc3c49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e55bc3c49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Amina -</a:t>
            </a:r>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 will use a qualitative research approach that combines digital ethnography and semi-structured interviews.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Digital ethnography helps us observe online engagement patterns, while interviews help us understand users' experiences.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will analyze posts from 2020-2025 over a 2-3 week period, and for the interviews we will use tools such as interview </a:t>
            </a:r>
            <a:r>
              <a:rPr lang="en">
                <a:solidFill>
                  <a:schemeClr val="dk1"/>
                </a:solidFill>
              </a:rPr>
              <a:t>guides</a:t>
            </a:r>
            <a:r>
              <a:rPr lang="en">
                <a:solidFill>
                  <a:schemeClr val="dk1"/>
                </a:solidFill>
              </a:rPr>
              <a:t>, consent forms, and a qualitative codebook to ensure we get the best results.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Our sample consists of college students and young adults involved in digital activism, on the platforms mentioned earlier.</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e55bc3c49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e55bc3c49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Amina -</a:t>
            </a:r>
            <a:endParaRPr/>
          </a:p>
          <a:p>
            <a:pPr indent="0" lvl="0" marL="0" rtl="0" algn="l">
              <a:lnSpc>
                <a:spcPct val="150000"/>
              </a:lnSpc>
              <a:spcBef>
                <a:spcPts val="1200"/>
              </a:spcBef>
              <a:spcAft>
                <a:spcPts val="0"/>
              </a:spcAft>
              <a:buNone/>
            </a:pPr>
            <a:r>
              <a:rPr lang="en"/>
              <a:t>To strengthen validity, we will examine multiple social media platforms, activist topics, and participant perspectives rather than relying on a single source.</a:t>
            </a:r>
            <a:endParaRPr/>
          </a:p>
          <a:p>
            <a:pPr indent="0" lvl="0" marL="0" rtl="0" algn="l">
              <a:lnSpc>
                <a:spcPct val="150000"/>
              </a:lnSpc>
              <a:spcBef>
                <a:spcPts val="0"/>
              </a:spcBef>
              <a:spcAft>
                <a:spcPts val="0"/>
              </a:spcAft>
              <a:buNone/>
            </a:pPr>
            <a:r>
              <a:rPr lang="en"/>
              <a:t>We will compare interview findings with online observations through triangulation</a:t>
            </a:r>
            <a:endParaRPr/>
          </a:p>
          <a:p>
            <a:pPr indent="0" lvl="0" marL="0" rtl="0" algn="l">
              <a:lnSpc>
                <a:spcPct val="150000"/>
              </a:lnSpc>
              <a:spcBef>
                <a:spcPts val="0"/>
              </a:spcBef>
              <a:spcAft>
                <a:spcPts val="0"/>
              </a:spcAft>
              <a:buNone/>
            </a:pPr>
            <a:r>
              <a:rPr lang="en"/>
              <a:t>We will use both the interviews and digital ethnography to validate findings across multiple data sources</a:t>
            </a:r>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rPr>
              <a:t>We expect to find differences in visibility across activist content, topics, and hashtags.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e5b6a82e5d_0_2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e5b6a82e5d_0_2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Amina -</a:t>
            </a:r>
            <a:endParaRPr/>
          </a:p>
          <a:p>
            <a:pPr indent="0" lvl="0" marL="0" rtl="0" algn="l">
              <a:lnSpc>
                <a:spcPct val="150000"/>
              </a:lnSpc>
              <a:spcBef>
                <a:spcPts val="1200"/>
              </a:spcBef>
              <a:spcAft>
                <a:spcPts val="0"/>
              </a:spcAft>
              <a:buNone/>
            </a:pPr>
            <a:r>
              <a:rPr lang="en"/>
              <a:t>This study raises several ethical challenges because it focuses on sensitive topics.</a:t>
            </a:r>
            <a:endParaRPr/>
          </a:p>
          <a:p>
            <a:pPr indent="0" lvl="0" marL="0" rtl="0" algn="l">
              <a:lnSpc>
                <a:spcPct val="150000"/>
              </a:lnSpc>
              <a:spcBef>
                <a:spcPts val="0"/>
              </a:spcBef>
              <a:spcAft>
                <a:spcPts val="0"/>
              </a:spcAft>
              <a:buNone/>
            </a:pPr>
            <a:r>
              <a:rPr lang="en"/>
              <a:t>Participants may feel uncomfortable discussing censorship, discrimination, or political activism.</a:t>
            </a:r>
            <a:endParaRPr/>
          </a:p>
          <a:p>
            <a:pPr indent="0" lvl="0" marL="0" rtl="0" algn="l">
              <a:lnSpc>
                <a:spcPct val="150000"/>
              </a:lnSpc>
              <a:spcBef>
                <a:spcPts val="0"/>
              </a:spcBef>
              <a:spcAft>
                <a:spcPts val="0"/>
              </a:spcAft>
              <a:buNone/>
            </a:pPr>
            <a:r>
              <a:rPr lang="en"/>
              <a:t>Public social media content raises privacy concerns, even when posts are publicly available.</a:t>
            </a:r>
            <a:endParaRPr/>
          </a:p>
          <a:p>
            <a:pPr indent="0" lvl="0" marL="0" rtl="0" algn="l">
              <a:lnSpc>
                <a:spcPct val="150000"/>
              </a:lnSpc>
              <a:spcBef>
                <a:spcPts val="0"/>
              </a:spcBef>
              <a:spcAft>
                <a:spcPts val="0"/>
              </a:spcAft>
              <a:buNone/>
            </a:pPr>
            <a:r>
              <a:rPr lang="en"/>
              <a:t>Protecting participant confidentiality will be a priority throughout the study.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5b6a82e5d_0_2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e5b6a82e5d_0_2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Amina -</a:t>
            </a:r>
            <a:endParaRPr/>
          </a:p>
          <a:p>
            <a:pPr indent="0" lvl="0" marL="0" rtl="0" algn="l">
              <a:lnSpc>
                <a:spcPct val="115000"/>
              </a:lnSpc>
              <a:spcBef>
                <a:spcPts val="1200"/>
              </a:spcBef>
              <a:spcAft>
                <a:spcPts val="0"/>
              </a:spcAft>
              <a:buNone/>
            </a:pPr>
            <a:r>
              <a:rPr lang="en"/>
              <a:t>What will we do to  </a:t>
            </a:r>
            <a:r>
              <a:rPr lang="en"/>
              <a:t>combat</a:t>
            </a:r>
            <a:r>
              <a:rPr lang="en"/>
              <a:t> this?</a:t>
            </a:r>
            <a:endParaRPr/>
          </a:p>
          <a:p>
            <a:pPr indent="0" lvl="0" marL="0" rtl="0" algn="l">
              <a:lnSpc>
                <a:spcPct val="150000"/>
              </a:lnSpc>
              <a:spcBef>
                <a:spcPts val="1200"/>
              </a:spcBef>
              <a:spcAft>
                <a:spcPts val="0"/>
              </a:spcAft>
              <a:buNone/>
            </a:pPr>
            <a:r>
              <a:rPr lang="en"/>
              <a:t>We</a:t>
            </a:r>
            <a:r>
              <a:rPr lang="en"/>
              <a:t> will make sure that everything is reviewed by the university's institutional review board before data collection begins.</a:t>
            </a:r>
            <a:endParaRPr/>
          </a:p>
          <a:p>
            <a:pPr indent="0" lvl="0" marL="0" rtl="0" algn="l">
              <a:lnSpc>
                <a:spcPct val="150000"/>
              </a:lnSpc>
              <a:spcBef>
                <a:spcPts val="0"/>
              </a:spcBef>
              <a:spcAft>
                <a:spcPts val="0"/>
              </a:spcAft>
              <a:buNone/>
            </a:pPr>
            <a:r>
              <a:rPr lang="en"/>
              <a:t>Only </a:t>
            </a:r>
            <a:r>
              <a:rPr lang="en"/>
              <a:t>participants</a:t>
            </a:r>
            <a:r>
              <a:rPr lang="en"/>
              <a:t> who opt into the study through consent forms will have </a:t>
            </a:r>
            <a:r>
              <a:rPr lang="en"/>
              <a:t>their</a:t>
            </a:r>
            <a:r>
              <a:rPr lang="en"/>
              <a:t> information used in the study.</a:t>
            </a:r>
            <a:endParaRPr/>
          </a:p>
          <a:p>
            <a:pPr indent="0" lvl="0" marL="0" rtl="0" algn="l">
              <a:lnSpc>
                <a:spcPct val="150000"/>
              </a:lnSpc>
              <a:spcBef>
                <a:spcPts val="0"/>
              </a:spcBef>
              <a:spcAft>
                <a:spcPts val="0"/>
              </a:spcAft>
              <a:buNone/>
            </a:pPr>
            <a:r>
              <a:rPr lang="en"/>
              <a:t>Identifying information will be anonymized, and data will be stored securely in encrypted, password-protected storage.</a:t>
            </a:r>
            <a:endParaRPr/>
          </a:p>
          <a:p>
            <a:pPr indent="0" lvl="0" marL="0" rtl="0" algn="l">
              <a:lnSpc>
                <a:spcPct val="150000"/>
              </a:lnSpc>
              <a:spcBef>
                <a:spcPts val="0"/>
              </a:spcBef>
              <a:spcAft>
                <a:spcPts val="0"/>
              </a:spcAft>
              <a:buNone/>
            </a:pPr>
            <a:r>
              <a:rPr lang="en">
                <a:solidFill>
                  <a:schemeClr val="dk1"/>
                </a:solidFill>
              </a:rPr>
              <a:t>P</a:t>
            </a:r>
            <a:r>
              <a:rPr lang="en">
                <a:solidFill>
                  <a:schemeClr val="dk1"/>
                </a:solidFill>
              </a:rPr>
              <a:t>articipants may withdraw at any time. </a:t>
            </a:r>
            <a:endParaRPr/>
          </a:p>
          <a:p>
            <a:pPr indent="0" lvl="0" marL="0" rtl="0" algn="l">
              <a:lnSpc>
                <a:spcPct val="150000"/>
              </a:lnSpc>
              <a:spcBef>
                <a:spcPts val="1200"/>
              </a:spcBef>
              <a:spcAft>
                <a:spcPts val="120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e5b6a82e5d_0_2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e5b6a82e5d_0_2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Hailey </a:t>
            </a:r>
            <a:endParaRPr/>
          </a:p>
          <a:p>
            <a:pPr indent="-298450" lvl="0" marL="457200" rtl="0" algn="l">
              <a:spcBef>
                <a:spcPts val="0"/>
              </a:spcBef>
              <a:spcAft>
                <a:spcPts val="0"/>
              </a:spcAft>
              <a:buSzPts val="1100"/>
              <a:buChar char="-"/>
            </a:pPr>
            <a:r>
              <a:rPr lang="en"/>
              <a:t>One major limitation is that we do not have access to the internal systems of social media </a:t>
            </a:r>
            <a:r>
              <a:rPr lang="en"/>
              <a:t>platforms</a:t>
            </a:r>
            <a:r>
              <a:rPr lang="en"/>
              <a:t> → cannot directly see </a:t>
            </a:r>
            <a:r>
              <a:rPr lang="en"/>
              <a:t>recommendation</a:t>
            </a:r>
            <a:r>
              <a:rPr lang="en"/>
              <a:t> algorithms, impression logs, moderation records or exact visibility metrics. </a:t>
            </a:r>
            <a:endParaRPr/>
          </a:p>
          <a:p>
            <a:pPr indent="-298450" lvl="0" marL="457200" rtl="0" algn="l">
              <a:spcBef>
                <a:spcPts val="0"/>
              </a:spcBef>
              <a:spcAft>
                <a:spcPts val="0"/>
              </a:spcAft>
              <a:buSzPts val="1100"/>
              <a:buChar char="-"/>
            </a:pPr>
            <a:r>
              <a:rPr lang="en"/>
              <a:t>Difficult to prove whether lower engagement is directly caused by algorithmic suppression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Small sample size of about 10 to 15 university students and young adults </a:t>
            </a:r>
            <a:endParaRPr/>
          </a:p>
          <a:p>
            <a:pPr indent="-298450" lvl="0" marL="457200" rtl="0" algn="l">
              <a:spcBef>
                <a:spcPts val="0"/>
              </a:spcBef>
              <a:spcAft>
                <a:spcPts val="0"/>
              </a:spcAft>
              <a:buSzPts val="1100"/>
              <a:buChar char="-"/>
            </a:pPr>
            <a:r>
              <a:rPr lang="en"/>
              <a:t>Many participants may be casual social media users, Also limited by location, age group and cultural background</a:t>
            </a:r>
            <a:endParaRPr/>
          </a:p>
          <a:p>
            <a:pPr indent="-298450" lvl="0" marL="457200" rtl="0" algn="l">
              <a:spcBef>
                <a:spcPts val="0"/>
              </a:spcBef>
              <a:spcAft>
                <a:spcPts val="0"/>
              </a:spcAft>
              <a:buSzPts val="1100"/>
              <a:buChar char="-"/>
            </a:pPr>
            <a:r>
              <a:rPr lang="en"/>
              <a:t>The findings should not be generalized to all social media users</a:t>
            </a:r>
            <a:endParaRPr/>
          </a:p>
          <a:p>
            <a:pPr indent="-298450" lvl="0" marL="457200" rtl="0" algn="l">
              <a:spcBef>
                <a:spcPts val="0"/>
              </a:spcBef>
              <a:spcAft>
                <a:spcPts val="0"/>
              </a:spcAft>
              <a:buSzPts val="1100"/>
              <a:buChar char="-"/>
            </a:pPr>
            <a:r>
              <a:rPr lang="en"/>
              <a:t>Engagement metrics can help show patterns, but they do not fully explain why a post was amplified or suppressed  </a:t>
            </a:r>
            <a:endParaRPr/>
          </a:p>
          <a:p>
            <a:pPr indent="-298450" lvl="0" marL="457200" rtl="0" algn="l">
              <a:spcBef>
                <a:spcPts val="0"/>
              </a:spcBef>
              <a:spcAft>
                <a:spcPts val="0"/>
              </a:spcAft>
              <a:buSzPts val="1100"/>
              <a:buChar char="-"/>
            </a:pPr>
            <a:r>
              <a:rPr lang="en"/>
              <a:t>To reduce, we plan to compare digital ethnography observations with interview response → to help connect visible online patterns with users’ lived experiences and gives us a more complete understanding of overall study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ec864fffb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ec864fffb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Aisha </a:t>
            </a:r>
            <a:endParaRPr/>
          </a:p>
          <a:p>
            <a:pPr indent="-298450" lvl="0" marL="457200" rtl="0" algn="l">
              <a:spcBef>
                <a:spcPts val="0"/>
              </a:spcBef>
              <a:spcAft>
                <a:spcPts val="0"/>
              </a:spcAft>
              <a:buSzPts val="1100"/>
              <a:buChar char="-"/>
            </a:pPr>
            <a:r>
              <a:rPr lang="en"/>
              <a:t>These are the </a:t>
            </a:r>
            <a:r>
              <a:rPr lang="en"/>
              <a:t>references</a:t>
            </a:r>
            <a:r>
              <a:rPr lang="en"/>
              <a:t> we </a:t>
            </a:r>
            <a:r>
              <a:rPr lang="en"/>
              <a:t>gathered</a:t>
            </a:r>
            <a:r>
              <a:rPr lang="en"/>
              <a:t>, which goes in depth in </a:t>
            </a:r>
            <a:r>
              <a:rPr lang="en"/>
              <a:t>various</a:t>
            </a:r>
            <a:r>
              <a:rPr lang="en"/>
              <a:t> aspect of </a:t>
            </a:r>
            <a:r>
              <a:rPr lang="en"/>
              <a:t>algorithms impacting</a:t>
            </a:r>
            <a:r>
              <a:rPr lang="en"/>
              <a:t> social movement, individual voices and the spread of information. </a:t>
            </a:r>
            <a:endParaRPr/>
          </a:p>
          <a:p>
            <a:pPr indent="-298450" lvl="0" marL="457200" rtl="0" algn="l">
              <a:spcBef>
                <a:spcPts val="0"/>
              </a:spcBef>
              <a:spcAft>
                <a:spcPts val="0"/>
              </a:spcAft>
              <a:buSzPts val="1100"/>
              <a:buChar char="-"/>
            </a:pPr>
            <a:r>
              <a:rPr lang="en"/>
              <a:t>They all allowed us to get </a:t>
            </a:r>
            <a:r>
              <a:rPr lang="en"/>
              <a:t>information</a:t>
            </a:r>
            <a:r>
              <a:rPr lang="en"/>
              <a:t> of how various groups are impact by </a:t>
            </a:r>
            <a:r>
              <a:rPr lang="en"/>
              <a:t>algorithms</a:t>
            </a:r>
            <a:r>
              <a:rPr lang="en"/>
              <a:t>, from activism, underrepresented </a:t>
            </a:r>
            <a:r>
              <a:rPr lang="en"/>
              <a:t>communities</a:t>
            </a:r>
            <a:r>
              <a:rPr lang="en"/>
              <a:t> and the youth.</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ec864fffb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ec864fffb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12075" y="858375"/>
            <a:ext cx="4648200" cy="275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3000">
                <a:latin typeface="Times New Roman"/>
                <a:ea typeface="Times New Roman"/>
                <a:cs typeface="Times New Roman"/>
                <a:sym typeface="Times New Roman"/>
              </a:rPr>
              <a:t>How Do Social Media Algorithms Shape The Visibility of Underrepresented Communities in Digital Activism</a:t>
            </a:r>
            <a:endParaRPr sz="3000">
              <a:latin typeface="Times New Roman"/>
              <a:ea typeface="Times New Roman"/>
              <a:cs typeface="Times New Roman"/>
              <a:sym typeface="Times New Roman"/>
            </a:endParaRPr>
          </a:p>
        </p:txBody>
      </p:sp>
      <p:sp>
        <p:nvSpPr>
          <p:cNvPr id="278" name="Google Shape;278;p13"/>
          <p:cNvSpPr txBox="1"/>
          <p:nvPr>
            <p:ph idx="1" type="subTitle"/>
          </p:nvPr>
        </p:nvSpPr>
        <p:spPr>
          <a:xfrm>
            <a:off x="812075" y="3769700"/>
            <a:ext cx="4255500" cy="695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700">
                <a:latin typeface="Times New Roman"/>
                <a:ea typeface="Times New Roman"/>
                <a:cs typeface="Times New Roman"/>
                <a:sym typeface="Times New Roman"/>
              </a:rPr>
              <a:t>Aisha Abdulkarim, Amina Ali, </a:t>
            </a:r>
            <a:r>
              <a:rPr lang="en" sz="1700">
                <a:latin typeface="Times New Roman"/>
                <a:ea typeface="Times New Roman"/>
                <a:cs typeface="Times New Roman"/>
                <a:sym typeface="Times New Roman"/>
              </a:rPr>
              <a:t>Hailey Xu</a:t>
            </a:r>
            <a:endParaRPr sz="17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700">
                <a:latin typeface="Times New Roman"/>
                <a:ea typeface="Times New Roman"/>
                <a:cs typeface="Times New Roman"/>
                <a:sym typeface="Times New Roman"/>
              </a:rPr>
              <a:t>Group AB2</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278450" y="744175"/>
            <a:ext cx="6587100" cy="6378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500"/>
              </a:spcAft>
              <a:buNone/>
            </a:pPr>
            <a:r>
              <a:rPr lang="en" sz="2400">
                <a:solidFill>
                  <a:srgbClr val="273540"/>
                </a:solidFill>
                <a:highlight>
                  <a:srgbClr val="FFFFFF"/>
                </a:highlight>
                <a:latin typeface="Times New Roman"/>
                <a:ea typeface="Times New Roman"/>
                <a:cs typeface="Times New Roman"/>
                <a:sym typeface="Times New Roman"/>
              </a:rPr>
              <a:t>Problem statement</a:t>
            </a:r>
            <a:endParaRPr sz="2400">
              <a:solidFill>
                <a:srgbClr val="273540"/>
              </a:solidFill>
              <a:latin typeface="Times New Roman"/>
              <a:ea typeface="Times New Roman"/>
              <a:cs typeface="Times New Roman"/>
              <a:sym typeface="Times New Roman"/>
            </a:endParaRPr>
          </a:p>
        </p:txBody>
      </p:sp>
      <p:sp>
        <p:nvSpPr>
          <p:cNvPr id="284" name="Google Shape;284;p14"/>
          <p:cNvSpPr txBox="1"/>
          <p:nvPr>
            <p:ph idx="1" type="body"/>
          </p:nvPr>
        </p:nvSpPr>
        <p:spPr>
          <a:xfrm>
            <a:off x="390300" y="1862975"/>
            <a:ext cx="8363400" cy="30675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400">
                <a:solidFill>
                  <a:srgbClr val="000000"/>
                </a:solidFill>
                <a:latin typeface="Times New Roman"/>
                <a:ea typeface="Times New Roman"/>
                <a:cs typeface="Times New Roman"/>
                <a:sym typeface="Times New Roman"/>
              </a:rPr>
              <a:t>The Problem:</a:t>
            </a:r>
            <a:r>
              <a:rPr lang="en" sz="2400">
                <a:solidFill>
                  <a:srgbClr val="000000"/>
                </a:solidFill>
                <a:latin typeface="Times New Roman"/>
                <a:ea typeface="Times New Roman"/>
                <a:cs typeface="Times New Roman"/>
                <a:sym typeface="Times New Roman"/>
              </a:rPr>
              <a:t> Platform visibility is heavily controlled by algorithmic recommendation and moderation systems, rather than acting as completely neutral spaces, during periods of civic discourse and digital activism.</a:t>
            </a:r>
            <a:endParaRPr sz="1057">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900">
                <a:solidFill>
                  <a:srgbClr val="273540"/>
                </a:solidFill>
                <a:latin typeface="Times New Roman"/>
                <a:ea typeface="Times New Roman"/>
                <a:cs typeface="Times New Roman"/>
                <a:sym typeface="Times New Roman"/>
              </a:rPr>
              <a:t>Key Literature</a:t>
            </a:r>
            <a:endParaRPr sz="2900">
              <a:solidFill>
                <a:srgbClr val="273540"/>
              </a:solidFill>
              <a:latin typeface="Times New Roman"/>
              <a:ea typeface="Times New Roman"/>
              <a:cs typeface="Times New Roman"/>
              <a:sym typeface="Times New Roman"/>
            </a:endParaRPr>
          </a:p>
        </p:txBody>
      </p:sp>
      <p:sp>
        <p:nvSpPr>
          <p:cNvPr id="290" name="Google Shape;290;p15"/>
          <p:cNvSpPr txBox="1"/>
          <p:nvPr>
            <p:ph idx="1" type="body"/>
          </p:nvPr>
        </p:nvSpPr>
        <p:spPr>
          <a:xfrm>
            <a:off x="327750" y="1764925"/>
            <a:ext cx="8488500" cy="30816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b="1" i="1" lang="en" sz="2057">
                <a:solidFill>
                  <a:srgbClr val="000000"/>
                </a:solidFill>
                <a:latin typeface="Times New Roman"/>
                <a:ea typeface="Times New Roman"/>
                <a:cs typeface="Times New Roman"/>
                <a:sym typeface="Times New Roman"/>
              </a:rPr>
              <a:t>Cammaerts (2015):</a:t>
            </a:r>
            <a:r>
              <a:rPr lang="en" sz="2057">
                <a:solidFill>
                  <a:srgbClr val="000000"/>
                </a:solidFill>
                <a:latin typeface="Times New Roman"/>
                <a:ea typeface="Times New Roman"/>
                <a:cs typeface="Times New Roman"/>
                <a:sym typeface="Times New Roman"/>
              </a:rPr>
              <a:t> Platforms opportunities for activism and movement building world-wide.</a:t>
            </a:r>
            <a:endParaRPr sz="2057">
              <a:solidFill>
                <a:srgbClr val="000000"/>
              </a:solidFill>
              <a:latin typeface="Times New Roman"/>
              <a:ea typeface="Times New Roman"/>
              <a:cs typeface="Times New Roman"/>
              <a:sym typeface="Times New Roman"/>
            </a:endParaRPr>
          </a:p>
          <a:p>
            <a:pPr indent="0" lvl="0" marL="0" rtl="0" algn="l">
              <a:lnSpc>
                <a:spcPct val="105000"/>
              </a:lnSpc>
              <a:spcBef>
                <a:spcPts val="1200"/>
              </a:spcBef>
              <a:spcAft>
                <a:spcPts val="0"/>
              </a:spcAft>
              <a:buNone/>
            </a:pPr>
            <a:r>
              <a:rPr b="1" lang="en" sz="2057">
                <a:solidFill>
                  <a:srgbClr val="000000"/>
                </a:solidFill>
                <a:latin typeface="Times New Roman"/>
                <a:ea typeface="Times New Roman"/>
                <a:cs typeface="Times New Roman"/>
                <a:sym typeface="Times New Roman"/>
              </a:rPr>
              <a:t>Uldam (2018):</a:t>
            </a:r>
            <a:r>
              <a:rPr lang="en" sz="2057">
                <a:solidFill>
                  <a:srgbClr val="000000"/>
                </a:solidFill>
                <a:latin typeface="Times New Roman"/>
                <a:ea typeface="Times New Roman"/>
                <a:cs typeface="Times New Roman"/>
                <a:sym typeface="Times New Roman"/>
              </a:rPr>
              <a:t> Underrepresented groups depend on digital visibility for recognition and identity politics, making them vulnerability to platform algorithms.</a:t>
            </a:r>
            <a:endParaRPr sz="2057">
              <a:solidFill>
                <a:srgbClr val="000000"/>
              </a:solidFill>
              <a:latin typeface="Times New Roman"/>
              <a:ea typeface="Times New Roman"/>
              <a:cs typeface="Times New Roman"/>
              <a:sym typeface="Times New Roman"/>
            </a:endParaRPr>
          </a:p>
          <a:p>
            <a:pPr indent="0" lvl="0" marL="0" rtl="0" algn="l">
              <a:lnSpc>
                <a:spcPct val="105000"/>
              </a:lnSpc>
              <a:spcBef>
                <a:spcPts val="1200"/>
              </a:spcBef>
              <a:spcAft>
                <a:spcPts val="1200"/>
              </a:spcAft>
              <a:buNone/>
            </a:pPr>
            <a:r>
              <a:rPr b="1" lang="en" sz="2057">
                <a:solidFill>
                  <a:srgbClr val="000000"/>
                </a:solidFill>
                <a:latin typeface="Times New Roman"/>
                <a:ea typeface="Times New Roman"/>
                <a:cs typeface="Times New Roman"/>
                <a:sym typeface="Times New Roman"/>
              </a:rPr>
              <a:t>Sannon et al. (2023)</a:t>
            </a:r>
            <a:r>
              <a:rPr lang="en" sz="2057">
                <a:solidFill>
                  <a:srgbClr val="000000"/>
                </a:solidFill>
                <a:latin typeface="Times New Roman"/>
                <a:ea typeface="Times New Roman"/>
                <a:cs typeface="Times New Roman"/>
                <a:sym typeface="Times New Roman"/>
              </a:rPr>
              <a:t>: Online activism is crucial for individuals facing accessibility barriers, yet it carries heightened privacy and safety risks.</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505050" y="509275"/>
            <a:ext cx="8133900" cy="3528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2400">
                <a:latin typeface="Times New Roman"/>
                <a:ea typeface="Times New Roman"/>
                <a:cs typeface="Times New Roman"/>
                <a:sym typeface="Times New Roman"/>
              </a:rPr>
              <a:t>Research </a:t>
            </a:r>
            <a:r>
              <a:rPr lang="en" sz="2400">
                <a:latin typeface="Times New Roman"/>
                <a:ea typeface="Times New Roman"/>
                <a:cs typeface="Times New Roman"/>
                <a:sym typeface="Times New Roman"/>
              </a:rPr>
              <a:t>Questions</a:t>
            </a:r>
            <a:r>
              <a:rPr b="0" lang="en" sz="2400">
                <a:latin typeface="Times New Roman"/>
                <a:ea typeface="Times New Roman"/>
                <a:cs typeface="Times New Roman"/>
                <a:sym typeface="Times New Roman"/>
              </a:rPr>
              <a:t>: </a:t>
            </a:r>
            <a:endParaRPr b="0" sz="2400">
              <a:latin typeface="Times New Roman"/>
              <a:ea typeface="Times New Roman"/>
              <a:cs typeface="Times New Roman"/>
              <a:sym typeface="Times New Roman"/>
            </a:endParaRPr>
          </a:p>
          <a:p>
            <a:pPr indent="-368300" lvl="0" marL="457200" rtl="0" algn="l">
              <a:lnSpc>
                <a:spcPct val="115000"/>
              </a:lnSpc>
              <a:spcBef>
                <a:spcPts val="1200"/>
              </a:spcBef>
              <a:spcAft>
                <a:spcPts val="0"/>
              </a:spcAft>
              <a:buSzPts val="2200"/>
              <a:buFont typeface="Times New Roman"/>
              <a:buChar char="-"/>
            </a:pPr>
            <a:r>
              <a:rPr b="0" lang="en" sz="2200">
                <a:latin typeface="Times New Roman"/>
                <a:ea typeface="Times New Roman"/>
                <a:cs typeface="Times New Roman"/>
                <a:sym typeface="Times New Roman"/>
              </a:rPr>
              <a:t>How do social media algorithms influence the visibility, amplification, or suppression of activist content from underrepresented communities? </a:t>
            </a:r>
            <a:endParaRPr b="0"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Char char="-"/>
            </a:pPr>
            <a:r>
              <a:rPr b="0" lang="en" sz="2200">
                <a:latin typeface="Times New Roman"/>
                <a:ea typeface="Times New Roman"/>
                <a:cs typeface="Times New Roman"/>
                <a:sym typeface="Times New Roman"/>
              </a:rPr>
              <a:t>How do users involved in or exposed to digital activism perceive algorithmic bias, censorship, shadow banning, and unequal visibility on platforms such as TikTok, Instagram, and X?</a:t>
            </a:r>
            <a:endParaRPr sz="2200">
              <a:highlight>
                <a:srgbClr val="FFFFFF"/>
              </a:highlight>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7"/>
          <p:cNvSpPr txBox="1"/>
          <p:nvPr>
            <p:ph idx="1" type="body"/>
          </p:nvPr>
        </p:nvSpPr>
        <p:spPr>
          <a:xfrm>
            <a:off x="1303800" y="1514425"/>
            <a:ext cx="7030500" cy="25416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Clr>
                <a:srgbClr val="273540"/>
              </a:buClr>
              <a:buSzPts val="2100"/>
              <a:buFont typeface="Times New Roman"/>
              <a:buChar char="●"/>
            </a:pPr>
            <a:r>
              <a:rPr lang="en" sz="2100">
                <a:solidFill>
                  <a:srgbClr val="273540"/>
                </a:solidFill>
                <a:latin typeface="Times New Roman"/>
                <a:ea typeface="Times New Roman"/>
                <a:cs typeface="Times New Roman"/>
                <a:sym typeface="Times New Roman"/>
              </a:rPr>
              <a:t>How users perceive algorithmic bias and suppression</a:t>
            </a:r>
            <a:endParaRPr sz="2100">
              <a:solidFill>
                <a:srgbClr val="273540"/>
              </a:solidFill>
              <a:latin typeface="Times New Roman"/>
              <a:ea typeface="Times New Roman"/>
              <a:cs typeface="Times New Roman"/>
              <a:sym typeface="Times New Roman"/>
            </a:endParaRPr>
          </a:p>
          <a:p>
            <a:pPr indent="-361950" lvl="0" marL="457200" rtl="0" algn="l">
              <a:spcBef>
                <a:spcPts val="0"/>
              </a:spcBef>
              <a:spcAft>
                <a:spcPts val="0"/>
              </a:spcAft>
              <a:buClr>
                <a:srgbClr val="273540"/>
              </a:buClr>
              <a:buSzPts val="2100"/>
              <a:buFont typeface="Times New Roman"/>
              <a:buChar char="●"/>
            </a:pPr>
            <a:r>
              <a:rPr lang="en" sz="2100">
                <a:solidFill>
                  <a:srgbClr val="273540"/>
                </a:solidFill>
                <a:latin typeface="Times New Roman"/>
                <a:ea typeface="Times New Roman"/>
                <a:cs typeface="Times New Roman"/>
                <a:sym typeface="Times New Roman"/>
              </a:rPr>
              <a:t>How activist content gains or loses visibility online</a:t>
            </a:r>
            <a:endParaRPr sz="2100">
              <a:solidFill>
                <a:srgbClr val="273540"/>
              </a:solidFill>
              <a:latin typeface="Times New Roman"/>
              <a:ea typeface="Times New Roman"/>
              <a:cs typeface="Times New Roman"/>
              <a:sym typeface="Times New Roman"/>
            </a:endParaRPr>
          </a:p>
          <a:p>
            <a:pPr indent="-361950" lvl="0" marL="457200" rtl="0" algn="l">
              <a:spcBef>
                <a:spcPts val="0"/>
              </a:spcBef>
              <a:spcAft>
                <a:spcPts val="0"/>
              </a:spcAft>
              <a:buClr>
                <a:srgbClr val="273540"/>
              </a:buClr>
              <a:buSzPts val="2100"/>
              <a:buFont typeface="Times New Roman"/>
              <a:buChar char="●"/>
            </a:pPr>
            <a:r>
              <a:rPr lang="en" sz="2100">
                <a:solidFill>
                  <a:srgbClr val="273540"/>
                </a:solidFill>
                <a:latin typeface="Times New Roman"/>
                <a:ea typeface="Times New Roman"/>
                <a:cs typeface="Times New Roman"/>
                <a:sym typeface="Times New Roman"/>
              </a:rPr>
              <a:t>How users change posting behavior to maintain engagement</a:t>
            </a:r>
            <a:endParaRPr sz="2100">
              <a:solidFill>
                <a:srgbClr val="273540"/>
              </a:solidFill>
              <a:latin typeface="Times New Roman"/>
              <a:ea typeface="Times New Roman"/>
              <a:cs typeface="Times New Roman"/>
              <a:sym typeface="Times New Roman"/>
            </a:endParaRPr>
          </a:p>
          <a:p>
            <a:pPr indent="0" lvl="0" marL="0" rtl="0" algn="l">
              <a:spcBef>
                <a:spcPts val="1200"/>
              </a:spcBef>
              <a:spcAft>
                <a:spcPts val="1200"/>
              </a:spcAft>
              <a:buNone/>
            </a:pPr>
            <a:r>
              <a:rPr lang="en" sz="2100">
                <a:solidFill>
                  <a:srgbClr val="273540"/>
                </a:solidFill>
                <a:latin typeface="Times New Roman"/>
                <a:ea typeface="Times New Roman"/>
                <a:cs typeface="Times New Roman"/>
                <a:sym typeface="Times New Roman"/>
              </a:rPr>
              <a:t>Outcome: contribute to conversations about transparency, fairness, and inclusive digital spaces</a:t>
            </a:r>
            <a:endParaRPr sz="2100">
              <a:solidFill>
                <a:srgbClr val="273540"/>
              </a:solidFill>
              <a:latin typeface="Times New Roman"/>
              <a:ea typeface="Times New Roman"/>
              <a:cs typeface="Times New Roman"/>
              <a:sym typeface="Times New Roman"/>
            </a:endParaRPr>
          </a:p>
        </p:txBody>
      </p:sp>
      <p:sp>
        <p:nvSpPr>
          <p:cNvPr id="301" name="Google Shape;301;p17"/>
          <p:cNvSpPr txBox="1"/>
          <p:nvPr>
            <p:ph type="title"/>
          </p:nvPr>
        </p:nvSpPr>
        <p:spPr>
          <a:xfrm>
            <a:off x="2494200" y="635225"/>
            <a:ext cx="4155600" cy="6780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500"/>
              </a:spcAft>
              <a:buNone/>
            </a:pPr>
            <a:r>
              <a:rPr lang="en" sz="2400">
                <a:solidFill>
                  <a:srgbClr val="273540"/>
                </a:solidFill>
                <a:highlight>
                  <a:srgbClr val="FFFFFF"/>
                </a:highlight>
                <a:latin typeface="Times New Roman"/>
                <a:ea typeface="Times New Roman"/>
                <a:cs typeface="Times New Roman"/>
                <a:sym typeface="Times New Roman"/>
              </a:rPr>
              <a:t>Objectives and Outcomes</a:t>
            </a:r>
            <a:endParaRPr sz="3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8"/>
          <p:cNvSpPr txBox="1"/>
          <p:nvPr>
            <p:ph idx="1" type="body"/>
          </p:nvPr>
        </p:nvSpPr>
        <p:spPr>
          <a:xfrm>
            <a:off x="514150" y="1351850"/>
            <a:ext cx="5086200" cy="34788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770"/>
              <a:buNone/>
            </a:pPr>
            <a:r>
              <a:rPr b="1" lang="en" sz="1580">
                <a:solidFill>
                  <a:srgbClr val="000000"/>
                </a:solidFill>
                <a:latin typeface="Times"/>
                <a:ea typeface="Times"/>
                <a:cs typeface="Times"/>
                <a:sym typeface="Times"/>
              </a:rPr>
              <a:t>Digital ethnography: </a:t>
            </a:r>
            <a:r>
              <a:rPr lang="en" sz="1580">
                <a:solidFill>
                  <a:srgbClr val="000000"/>
                </a:solidFill>
                <a:latin typeface="Times"/>
                <a:ea typeface="Times"/>
                <a:cs typeface="Times"/>
                <a:sym typeface="Times"/>
              </a:rPr>
              <a:t>Analyze posts from 2020–2025 over a 2–3 week observation period</a:t>
            </a:r>
            <a:endParaRPr sz="1580">
              <a:solidFill>
                <a:srgbClr val="000000"/>
              </a:solidFill>
              <a:latin typeface="Times"/>
              <a:ea typeface="Times"/>
              <a:cs typeface="Times"/>
              <a:sym typeface="Times"/>
            </a:endParaRPr>
          </a:p>
          <a:p>
            <a:pPr indent="0" lvl="0" marL="0" rtl="0" algn="l">
              <a:lnSpc>
                <a:spcPct val="105000"/>
              </a:lnSpc>
              <a:spcBef>
                <a:spcPts val="1000"/>
              </a:spcBef>
              <a:spcAft>
                <a:spcPts val="0"/>
              </a:spcAft>
              <a:buSzPts val="770"/>
              <a:buNone/>
            </a:pPr>
            <a:r>
              <a:rPr b="1" lang="en" sz="1580">
                <a:solidFill>
                  <a:srgbClr val="000000"/>
                </a:solidFill>
                <a:latin typeface="Times"/>
                <a:ea typeface="Times"/>
                <a:cs typeface="Times"/>
                <a:sym typeface="Times"/>
              </a:rPr>
              <a:t>Semi-structured interviews: </a:t>
            </a:r>
            <a:r>
              <a:rPr lang="en" sz="1580">
                <a:solidFill>
                  <a:srgbClr val="000000"/>
                </a:solidFill>
                <a:latin typeface="Times"/>
                <a:ea typeface="Times"/>
                <a:cs typeface="Times"/>
                <a:sym typeface="Times"/>
              </a:rPr>
              <a:t>Interview guide, consent form, and qualitative codebook</a:t>
            </a:r>
            <a:endParaRPr sz="1580">
              <a:solidFill>
                <a:srgbClr val="000000"/>
              </a:solidFill>
              <a:latin typeface="Times"/>
              <a:ea typeface="Times"/>
              <a:cs typeface="Times"/>
              <a:sym typeface="Times"/>
            </a:endParaRPr>
          </a:p>
          <a:p>
            <a:pPr indent="0" lvl="0" marL="0" rtl="0" algn="ctr">
              <a:lnSpc>
                <a:spcPct val="105000"/>
              </a:lnSpc>
              <a:spcBef>
                <a:spcPts val="1000"/>
              </a:spcBef>
              <a:spcAft>
                <a:spcPts val="0"/>
              </a:spcAft>
              <a:buSzPts val="770"/>
              <a:buNone/>
            </a:pPr>
            <a:r>
              <a:rPr b="1" lang="en" sz="1580">
                <a:solidFill>
                  <a:srgbClr val="000000"/>
                </a:solidFill>
                <a:latin typeface="Times"/>
                <a:ea typeface="Times"/>
                <a:cs typeface="Times"/>
                <a:sym typeface="Times"/>
              </a:rPr>
              <a:t>Focus</a:t>
            </a:r>
            <a:endParaRPr b="1" sz="1580">
              <a:solidFill>
                <a:srgbClr val="000000"/>
              </a:solidFill>
              <a:latin typeface="Times"/>
              <a:ea typeface="Times"/>
              <a:cs typeface="Times"/>
              <a:sym typeface="Times"/>
            </a:endParaRPr>
          </a:p>
          <a:p>
            <a:pPr indent="0" lvl="0" marL="0" rtl="0" algn="ctr">
              <a:lnSpc>
                <a:spcPct val="105000"/>
              </a:lnSpc>
              <a:spcBef>
                <a:spcPts val="1000"/>
              </a:spcBef>
              <a:spcAft>
                <a:spcPts val="0"/>
              </a:spcAft>
              <a:buSzPts val="770"/>
              <a:buNone/>
            </a:pPr>
            <a:r>
              <a:rPr lang="en" sz="1580">
                <a:solidFill>
                  <a:srgbClr val="000000"/>
                </a:solidFill>
                <a:latin typeface="Times"/>
                <a:ea typeface="Times"/>
                <a:cs typeface="Times"/>
                <a:sym typeface="Times"/>
              </a:rPr>
              <a:t>Understand how algorithms shape activist content visibility and user experiences.</a:t>
            </a:r>
            <a:endParaRPr sz="1580">
              <a:solidFill>
                <a:srgbClr val="000000"/>
              </a:solidFill>
              <a:latin typeface="Times"/>
              <a:ea typeface="Times"/>
              <a:cs typeface="Times"/>
              <a:sym typeface="Times"/>
            </a:endParaRPr>
          </a:p>
          <a:p>
            <a:pPr indent="0" lvl="0" marL="0" rtl="0" algn="ctr">
              <a:lnSpc>
                <a:spcPct val="105000"/>
              </a:lnSpc>
              <a:spcBef>
                <a:spcPts val="1000"/>
              </a:spcBef>
              <a:spcAft>
                <a:spcPts val="0"/>
              </a:spcAft>
              <a:buSzPts val="770"/>
              <a:buNone/>
            </a:pPr>
            <a:r>
              <a:rPr b="1" lang="en" sz="1580">
                <a:solidFill>
                  <a:srgbClr val="000000"/>
                </a:solidFill>
                <a:latin typeface="Times"/>
                <a:ea typeface="Times"/>
                <a:cs typeface="Times"/>
                <a:sym typeface="Times"/>
              </a:rPr>
              <a:t>Sample</a:t>
            </a:r>
            <a:endParaRPr b="1" sz="1580">
              <a:solidFill>
                <a:srgbClr val="000000"/>
              </a:solidFill>
              <a:latin typeface="Times"/>
              <a:ea typeface="Times"/>
              <a:cs typeface="Times"/>
              <a:sym typeface="Times"/>
            </a:endParaRPr>
          </a:p>
          <a:p>
            <a:pPr indent="0" lvl="0" marL="0" rtl="0" algn="ctr">
              <a:lnSpc>
                <a:spcPct val="105000"/>
              </a:lnSpc>
              <a:spcBef>
                <a:spcPts val="1000"/>
              </a:spcBef>
              <a:spcAft>
                <a:spcPts val="1000"/>
              </a:spcAft>
              <a:buSzPts val="770"/>
              <a:buNone/>
            </a:pPr>
            <a:r>
              <a:rPr lang="en" sz="1510">
                <a:solidFill>
                  <a:srgbClr val="000000"/>
                </a:solidFill>
                <a:latin typeface="Times"/>
                <a:ea typeface="Times"/>
                <a:cs typeface="Times"/>
                <a:sym typeface="Times"/>
              </a:rPr>
              <a:t> College students and young adults involved in digital activism on platforms such as Instagram, TikTok, and X (Twitter). </a:t>
            </a:r>
            <a:endParaRPr sz="1510">
              <a:latin typeface="Times"/>
              <a:ea typeface="Times"/>
              <a:cs typeface="Times"/>
              <a:sym typeface="Times"/>
            </a:endParaRPr>
          </a:p>
        </p:txBody>
      </p:sp>
      <p:pic>
        <p:nvPicPr>
          <p:cNvPr descr="College, educational institute, school icon (Provided by Getty Images)" id="307" name="Google Shape;307;p18"/>
          <p:cNvPicPr preferRelativeResize="0"/>
          <p:nvPr/>
        </p:nvPicPr>
        <p:blipFill rotWithShape="1">
          <a:blip r:embed="rId3">
            <a:alphaModFix/>
          </a:blip>
          <a:srcRect b="5540" l="3678" r="3669" t="17726"/>
          <a:stretch/>
        </p:blipFill>
        <p:spPr>
          <a:xfrm>
            <a:off x="5872500" y="3200701"/>
            <a:ext cx="2689500" cy="1942800"/>
          </a:xfrm>
          <a:prstGeom prst="roundRect">
            <a:avLst>
              <a:gd fmla="val 16667" name="adj"/>
            </a:avLst>
          </a:prstGeom>
          <a:noFill/>
          <a:ln>
            <a:noFill/>
          </a:ln>
        </p:spPr>
      </p:pic>
      <p:pic>
        <p:nvPicPr>
          <p:cNvPr descr="Social media and people network technology concept (Provided by Getty Images)" id="308" name="Google Shape;308;p18"/>
          <p:cNvPicPr preferRelativeResize="0"/>
          <p:nvPr/>
        </p:nvPicPr>
        <p:blipFill>
          <a:blip r:embed="rId4">
            <a:alphaModFix/>
          </a:blip>
          <a:stretch>
            <a:fillRect/>
          </a:stretch>
        </p:blipFill>
        <p:spPr>
          <a:xfrm>
            <a:off x="5701500" y="1243000"/>
            <a:ext cx="3031500" cy="1874100"/>
          </a:xfrm>
          <a:prstGeom prst="roundRect">
            <a:avLst>
              <a:gd fmla="val 16667" name="adj"/>
            </a:avLst>
          </a:prstGeom>
          <a:noFill/>
          <a:ln>
            <a:noFill/>
          </a:ln>
        </p:spPr>
      </p:pic>
      <p:sp>
        <p:nvSpPr>
          <p:cNvPr id="309" name="Google Shape;309;p18"/>
          <p:cNvSpPr txBox="1"/>
          <p:nvPr>
            <p:ph type="title"/>
          </p:nvPr>
        </p:nvSpPr>
        <p:spPr>
          <a:xfrm>
            <a:off x="1259349" y="359000"/>
            <a:ext cx="7030500" cy="712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500"/>
              </a:spcAft>
              <a:buNone/>
            </a:pPr>
            <a:r>
              <a:rPr lang="en" sz="2400">
                <a:solidFill>
                  <a:srgbClr val="273540"/>
                </a:solidFill>
                <a:highlight>
                  <a:srgbClr val="FFFFFF"/>
                </a:highlight>
                <a:latin typeface="Times New Roman"/>
                <a:ea typeface="Times New Roman"/>
                <a:cs typeface="Times New Roman"/>
                <a:sym typeface="Times New Roman"/>
              </a:rPr>
              <a:t>Method</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9"/>
          <p:cNvSpPr txBox="1"/>
          <p:nvPr>
            <p:ph type="title"/>
          </p:nvPr>
        </p:nvSpPr>
        <p:spPr>
          <a:xfrm>
            <a:off x="1340125" y="598575"/>
            <a:ext cx="7030500" cy="9993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2400">
                <a:solidFill>
                  <a:srgbClr val="273540"/>
                </a:solidFill>
                <a:highlight>
                  <a:srgbClr val="FFFFFF"/>
                </a:highlight>
                <a:latin typeface="Times New Roman"/>
                <a:ea typeface="Times New Roman"/>
                <a:cs typeface="Times New Roman"/>
                <a:sym typeface="Times New Roman"/>
              </a:rPr>
              <a:t>Anticipated Results</a:t>
            </a:r>
            <a:endParaRPr sz="2400">
              <a:solidFill>
                <a:srgbClr val="273540"/>
              </a:solidFill>
              <a:highlight>
                <a:srgbClr val="FFFFFF"/>
              </a:highlight>
              <a:latin typeface="Times New Roman"/>
              <a:ea typeface="Times New Roman"/>
              <a:cs typeface="Times New Roman"/>
              <a:sym typeface="Times New Roman"/>
            </a:endParaRPr>
          </a:p>
          <a:p>
            <a:pPr indent="0" lvl="0" marL="0" rtl="0" algn="l">
              <a:spcBef>
                <a:spcPts val="500"/>
              </a:spcBef>
              <a:spcAft>
                <a:spcPts val="0"/>
              </a:spcAft>
              <a:buNone/>
            </a:pPr>
            <a:r>
              <a:t/>
            </a:r>
            <a:endParaRPr sz="2400">
              <a:latin typeface="Times New Roman"/>
              <a:ea typeface="Times New Roman"/>
              <a:cs typeface="Times New Roman"/>
              <a:sym typeface="Times New Roman"/>
            </a:endParaRPr>
          </a:p>
        </p:txBody>
      </p:sp>
      <p:pic>
        <p:nvPicPr>
          <p:cNvPr id="315" name="Google Shape;315;p19" title="checkpoint4 (1).png"/>
          <p:cNvPicPr preferRelativeResize="0"/>
          <p:nvPr/>
        </p:nvPicPr>
        <p:blipFill>
          <a:blip r:embed="rId3">
            <a:alphaModFix/>
          </a:blip>
          <a:stretch>
            <a:fillRect/>
          </a:stretch>
        </p:blipFill>
        <p:spPr>
          <a:xfrm>
            <a:off x="5444225" y="1597864"/>
            <a:ext cx="3699775" cy="2845975"/>
          </a:xfrm>
          <a:prstGeom prst="rect">
            <a:avLst/>
          </a:prstGeom>
          <a:noFill/>
          <a:ln>
            <a:noFill/>
          </a:ln>
        </p:spPr>
      </p:pic>
      <p:sp>
        <p:nvSpPr>
          <p:cNvPr id="316" name="Google Shape;316;p19"/>
          <p:cNvSpPr txBox="1"/>
          <p:nvPr>
            <p:ph idx="1" type="body"/>
          </p:nvPr>
        </p:nvSpPr>
        <p:spPr>
          <a:xfrm>
            <a:off x="1073625" y="1883625"/>
            <a:ext cx="4920900" cy="24570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rgbClr val="000000"/>
              </a:buClr>
              <a:buSzPts val="1800"/>
              <a:buFont typeface="Times"/>
              <a:buChar char="●"/>
            </a:pPr>
            <a:r>
              <a:rPr lang="en" sz="1800">
                <a:solidFill>
                  <a:srgbClr val="000000"/>
                </a:solidFill>
                <a:latin typeface="Times"/>
                <a:ea typeface="Times"/>
                <a:cs typeface="Times"/>
                <a:sym typeface="Times"/>
              </a:rPr>
              <a:t>Multiple platforms and activist topics will be examined</a:t>
            </a:r>
            <a:endParaRPr sz="1800">
              <a:solidFill>
                <a:srgbClr val="000000"/>
              </a:solidFill>
              <a:latin typeface="Times"/>
              <a:ea typeface="Times"/>
              <a:cs typeface="Times"/>
              <a:sym typeface="Times"/>
            </a:endParaRPr>
          </a:p>
          <a:p>
            <a:pPr indent="-342900" lvl="0" marL="457200" rtl="0" algn="l">
              <a:spcBef>
                <a:spcPts val="0"/>
              </a:spcBef>
              <a:spcAft>
                <a:spcPts val="0"/>
              </a:spcAft>
              <a:buClr>
                <a:srgbClr val="000000"/>
              </a:buClr>
              <a:buSzPts val="1800"/>
              <a:buFont typeface="Times"/>
              <a:buChar char="●"/>
            </a:pPr>
            <a:r>
              <a:rPr lang="en" sz="1800">
                <a:solidFill>
                  <a:srgbClr val="000000"/>
                </a:solidFill>
                <a:latin typeface="Times"/>
                <a:ea typeface="Times"/>
                <a:cs typeface="Times"/>
                <a:sym typeface="Times"/>
              </a:rPr>
              <a:t>Compare interviews and online observations</a:t>
            </a:r>
            <a:endParaRPr sz="1800">
              <a:solidFill>
                <a:srgbClr val="000000"/>
              </a:solidFill>
              <a:latin typeface="Times"/>
              <a:ea typeface="Times"/>
              <a:cs typeface="Times"/>
              <a:sym typeface="Times"/>
            </a:endParaRPr>
          </a:p>
          <a:p>
            <a:pPr indent="-342900" lvl="0" marL="457200" rtl="0" algn="l">
              <a:spcBef>
                <a:spcPts val="0"/>
              </a:spcBef>
              <a:spcAft>
                <a:spcPts val="0"/>
              </a:spcAft>
              <a:buClr>
                <a:srgbClr val="000000"/>
              </a:buClr>
              <a:buSzPts val="1800"/>
              <a:buFont typeface="Times"/>
              <a:buChar char="●"/>
            </a:pPr>
            <a:r>
              <a:rPr lang="en" sz="1800">
                <a:solidFill>
                  <a:srgbClr val="000000"/>
                </a:solidFill>
                <a:latin typeface="Times"/>
                <a:ea typeface="Times"/>
                <a:cs typeface="Times"/>
                <a:sym typeface="Times"/>
              </a:rPr>
              <a:t>Strengthen validity through triangulation</a:t>
            </a:r>
            <a:endParaRPr sz="1800">
              <a:solidFill>
                <a:srgbClr val="000000"/>
              </a:solidFill>
              <a:latin typeface="Times"/>
              <a:ea typeface="Times"/>
              <a:cs typeface="Times"/>
              <a:sym typeface="Times"/>
            </a:endParaRPr>
          </a:p>
          <a:p>
            <a:pPr indent="-342900" lvl="0" marL="457200" rtl="0" algn="l">
              <a:spcBef>
                <a:spcPts val="0"/>
              </a:spcBef>
              <a:spcAft>
                <a:spcPts val="0"/>
              </a:spcAft>
              <a:buClr>
                <a:srgbClr val="000000"/>
              </a:buClr>
              <a:buSzPts val="1800"/>
              <a:buFont typeface="Times"/>
              <a:buChar char="●"/>
            </a:pPr>
            <a:r>
              <a:rPr lang="en" sz="1800">
                <a:solidFill>
                  <a:srgbClr val="000000"/>
                </a:solidFill>
                <a:latin typeface="Times"/>
                <a:ea typeface="Times"/>
                <a:cs typeface="Times"/>
                <a:sym typeface="Times"/>
              </a:rPr>
              <a:t>Unequal visibility of activist content</a:t>
            </a:r>
            <a:endParaRPr sz="1800">
              <a:solidFill>
                <a:srgbClr val="000000"/>
              </a:solidFill>
              <a:latin typeface="Times"/>
              <a:ea typeface="Times"/>
              <a:cs typeface="Times"/>
              <a:sym typeface="Times"/>
            </a:endParaRPr>
          </a:p>
          <a:p>
            <a:pPr indent="-342900" lvl="0" marL="457200" rtl="0" algn="l">
              <a:spcBef>
                <a:spcPts val="0"/>
              </a:spcBef>
              <a:spcAft>
                <a:spcPts val="0"/>
              </a:spcAft>
              <a:buClr>
                <a:srgbClr val="000000"/>
              </a:buClr>
              <a:buSzPts val="1800"/>
              <a:buFont typeface="Times"/>
              <a:buChar char="●"/>
            </a:pPr>
            <a:r>
              <a:rPr lang="en" sz="1800">
                <a:solidFill>
                  <a:srgbClr val="000000"/>
                </a:solidFill>
                <a:latin typeface="Times"/>
                <a:ea typeface="Times"/>
                <a:cs typeface="Times"/>
                <a:sym typeface="Times"/>
              </a:rPr>
              <a:t>Reports of censorship and shadow banning</a:t>
            </a:r>
            <a:endParaRPr sz="1800">
              <a:solidFill>
                <a:srgbClr val="000000"/>
              </a:solidFill>
              <a:latin typeface="Times"/>
              <a:ea typeface="Times"/>
              <a:cs typeface="Times"/>
              <a:sym typeface="Time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0"/>
          <p:cNvSpPr txBox="1"/>
          <p:nvPr>
            <p:ph type="title"/>
          </p:nvPr>
        </p:nvSpPr>
        <p:spPr>
          <a:xfrm>
            <a:off x="2546025" y="317550"/>
            <a:ext cx="4155600" cy="6780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500"/>
              </a:spcAft>
              <a:buNone/>
            </a:pPr>
            <a:r>
              <a:rPr lang="en" sz="2400">
                <a:solidFill>
                  <a:srgbClr val="273540"/>
                </a:solidFill>
                <a:highlight>
                  <a:srgbClr val="FFFFFF"/>
                </a:highlight>
                <a:latin typeface="Times New Roman"/>
                <a:ea typeface="Times New Roman"/>
                <a:cs typeface="Times New Roman"/>
                <a:sym typeface="Times New Roman"/>
              </a:rPr>
              <a:t>Ethics</a:t>
            </a:r>
            <a:endParaRPr sz="2400"/>
          </a:p>
        </p:txBody>
      </p:sp>
      <p:sp>
        <p:nvSpPr>
          <p:cNvPr id="322" name="Google Shape;322;p20"/>
          <p:cNvSpPr txBox="1"/>
          <p:nvPr>
            <p:ph idx="1" type="body"/>
          </p:nvPr>
        </p:nvSpPr>
        <p:spPr>
          <a:xfrm>
            <a:off x="1172350" y="995550"/>
            <a:ext cx="7434600" cy="39162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en" sz="2100">
                <a:solidFill>
                  <a:srgbClr val="000000"/>
                </a:solidFill>
                <a:latin typeface="Times"/>
                <a:ea typeface="Times"/>
                <a:cs typeface="Times"/>
                <a:sym typeface="Times"/>
              </a:rPr>
              <a:t>Ethical Challenges</a:t>
            </a:r>
            <a:endParaRPr b="1" sz="2100">
              <a:solidFill>
                <a:srgbClr val="000000"/>
              </a:solidFill>
              <a:latin typeface="Times"/>
              <a:ea typeface="Times"/>
              <a:cs typeface="Times"/>
              <a:sym typeface="Times"/>
            </a:endParaRPr>
          </a:p>
          <a:p>
            <a:pPr indent="-355600" lvl="0" marL="457200" rtl="0" algn="l">
              <a:spcBef>
                <a:spcPts val="1200"/>
              </a:spcBef>
              <a:spcAft>
                <a:spcPts val="0"/>
              </a:spcAft>
              <a:buClr>
                <a:srgbClr val="000000"/>
              </a:buClr>
              <a:buSzPts val="2000"/>
              <a:buFont typeface="Times"/>
              <a:buChar char="●"/>
            </a:pPr>
            <a:r>
              <a:rPr lang="en" sz="2000">
                <a:solidFill>
                  <a:srgbClr val="000000"/>
                </a:solidFill>
                <a:latin typeface="Times"/>
                <a:ea typeface="Times"/>
                <a:cs typeface="Times"/>
                <a:sym typeface="Times"/>
              </a:rPr>
              <a:t>Discomfort</a:t>
            </a:r>
            <a:endParaRPr sz="2000">
              <a:solidFill>
                <a:srgbClr val="000000"/>
              </a:solidFill>
              <a:latin typeface="Times"/>
              <a:ea typeface="Times"/>
              <a:cs typeface="Times"/>
              <a:sym typeface="Times"/>
            </a:endParaRPr>
          </a:p>
          <a:p>
            <a:pPr indent="-355600" lvl="0" marL="457200" rtl="0" algn="l">
              <a:spcBef>
                <a:spcPts val="0"/>
              </a:spcBef>
              <a:spcAft>
                <a:spcPts val="0"/>
              </a:spcAft>
              <a:buClr>
                <a:srgbClr val="000000"/>
              </a:buClr>
              <a:buSzPts val="2000"/>
              <a:buFont typeface="Times"/>
              <a:buChar char="●"/>
            </a:pPr>
            <a:r>
              <a:rPr lang="en" sz="2000">
                <a:solidFill>
                  <a:srgbClr val="000000"/>
                </a:solidFill>
                <a:latin typeface="Times"/>
                <a:ea typeface="Times"/>
                <a:cs typeface="Times"/>
                <a:sym typeface="Times"/>
              </a:rPr>
              <a:t>Risk of harassment or negative impacts on online presence.</a:t>
            </a:r>
            <a:endParaRPr sz="2000">
              <a:solidFill>
                <a:srgbClr val="000000"/>
              </a:solidFill>
              <a:latin typeface="Times"/>
              <a:ea typeface="Times"/>
              <a:cs typeface="Times"/>
              <a:sym typeface="Times"/>
            </a:endParaRPr>
          </a:p>
          <a:p>
            <a:pPr indent="-361950" lvl="0" marL="457200" rtl="0" algn="l">
              <a:spcBef>
                <a:spcPts val="0"/>
              </a:spcBef>
              <a:spcAft>
                <a:spcPts val="0"/>
              </a:spcAft>
              <a:buClr>
                <a:srgbClr val="000000"/>
              </a:buClr>
              <a:buSzPts val="2100"/>
              <a:buFont typeface="Times"/>
              <a:buChar char="●"/>
            </a:pPr>
            <a:r>
              <a:rPr lang="en" sz="2100">
                <a:solidFill>
                  <a:srgbClr val="000000"/>
                </a:solidFill>
                <a:latin typeface="Times"/>
                <a:ea typeface="Times"/>
                <a:cs typeface="Times"/>
                <a:sym typeface="Times"/>
              </a:rPr>
              <a:t>Sensitive political topics.</a:t>
            </a:r>
            <a:endParaRPr sz="2100">
              <a:solidFill>
                <a:srgbClr val="000000"/>
              </a:solidFill>
              <a:latin typeface="Times"/>
              <a:ea typeface="Times"/>
              <a:cs typeface="Times"/>
              <a:sym typeface="Times"/>
            </a:endParaRPr>
          </a:p>
          <a:p>
            <a:pPr indent="0" lvl="0" marL="0" rtl="0" algn="l">
              <a:spcBef>
                <a:spcPts val="1200"/>
              </a:spcBef>
              <a:spcAft>
                <a:spcPts val="0"/>
              </a:spcAft>
              <a:buNone/>
            </a:pPr>
            <a:r>
              <a:rPr b="1" lang="en" sz="2100">
                <a:solidFill>
                  <a:srgbClr val="000000"/>
                </a:solidFill>
                <a:latin typeface="Times"/>
                <a:ea typeface="Times"/>
                <a:cs typeface="Times"/>
                <a:sym typeface="Times"/>
              </a:rPr>
              <a:t>Human Subjects &amp; Methodological Considerations</a:t>
            </a:r>
            <a:endParaRPr b="1" sz="2100">
              <a:solidFill>
                <a:srgbClr val="000000"/>
              </a:solidFill>
              <a:latin typeface="Times"/>
              <a:ea typeface="Times"/>
              <a:cs typeface="Times"/>
              <a:sym typeface="Times"/>
            </a:endParaRPr>
          </a:p>
          <a:p>
            <a:pPr indent="-355600" lvl="0" marL="457200" rtl="0" algn="l">
              <a:spcBef>
                <a:spcPts val="1200"/>
              </a:spcBef>
              <a:spcAft>
                <a:spcPts val="0"/>
              </a:spcAft>
              <a:buClr>
                <a:srgbClr val="000000"/>
              </a:buClr>
              <a:buSzPts val="2000"/>
              <a:buFont typeface="Times"/>
              <a:buChar char="●"/>
            </a:pPr>
            <a:r>
              <a:rPr lang="en" sz="2000">
                <a:solidFill>
                  <a:srgbClr val="000000"/>
                </a:solidFill>
                <a:latin typeface="Times"/>
                <a:ea typeface="Times"/>
                <a:cs typeface="Times"/>
                <a:sym typeface="Times"/>
              </a:rPr>
              <a:t>Public social media content may not be intended for research use</a:t>
            </a:r>
            <a:endParaRPr sz="2000">
              <a:solidFill>
                <a:srgbClr val="000000"/>
              </a:solidFill>
              <a:latin typeface="Times"/>
              <a:ea typeface="Times"/>
              <a:cs typeface="Times"/>
              <a:sym typeface="Times"/>
            </a:endParaRPr>
          </a:p>
          <a:p>
            <a:pPr indent="-355600" lvl="0" marL="457200" rtl="0" algn="l">
              <a:spcBef>
                <a:spcPts val="0"/>
              </a:spcBef>
              <a:spcAft>
                <a:spcPts val="0"/>
              </a:spcAft>
              <a:buClr>
                <a:srgbClr val="000000"/>
              </a:buClr>
              <a:buSzPts val="2000"/>
              <a:buFont typeface="Times"/>
              <a:buChar char="●"/>
            </a:pPr>
            <a:r>
              <a:rPr lang="en" sz="2000">
                <a:solidFill>
                  <a:srgbClr val="000000"/>
                </a:solidFill>
                <a:latin typeface="Times"/>
                <a:ea typeface="Times"/>
                <a:cs typeface="Times"/>
                <a:sym typeface="Times"/>
              </a:rPr>
              <a:t>Online engagement metrics may not fully reflect algorithmic behavior</a:t>
            </a:r>
            <a:endParaRPr sz="2000">
              <a:solidFill>
                <a:srgbClr val="000000"/>
              </a:solidFill>
              <a:latin typeface="Times"/>
              <a:ea typeface="Times"/>
              <a:cs typeface="Times"/>
              <a:sym typeface="Times"/>
            </a:endParaRPr>
          </a:p>
          <a:p>
            <a:pPr indent="-355600" lvl="0" marL="457200" rtl="0" algn="l">
              <a:spcBef>
                <a:spcPts val="0"/>
              </a:spcBef>
              <a:spcAft>
                <a:spcPts val="0"/>
              </a:spcAft>
              <a:buClr>
                <a:srgbClr val="000000"/>
              </a:buClr>
              <a:buSzPts val="2000"/>
              <a:buFont typeface="Times"/>
              <a:buChar char="●"/>
            </a:pPr>
            <a:r>
              <a:rPr lang="en" sz="2000">
                <a:solidFill>
                  <a:srgbClr val="000000"/>
                </a:solidFill>
                <a:latin typeface="Times"/>
                <a:ea typeface="Times"/>
                <a:cs typeface="Times"/>
                <a:sym typeface="Times"/>
              </a:rPr>
              <a:t>Protecting participant privacy is essential</a:t>
            </a:r>
            <a:endParaRPr b="1" sz="2400">
              <a:solidFill>
                <a:srgbClr val="000000"/>
              </a:solidFill>
              <a:latin typeface="Times"/>
              <a:ea typeface="Times"/>
              <a:cs typeface="Times"/>
              <a:sym typeface="Times"/>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1"/>
          <p:cNvSpPr txBox="1"/>
          <p:nvPr>
            <p:ph type="title"/>
          </p:nvPr>
        </p:nvSpPr>
        <p:spPr>
          <a:xfrm>
            <a:off x="2546025" y="317550"/>
            <a:ext cx="4155600" cy="6780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500"/>
              </a:spcAft>
              <a:buNone/>
            </a:pPr>
            <a:r>
              <a:rPr lang="en" sz="2400">
                <a:solidFill>
                  <a:srgbClr val="273540"/>
                </a:solidFill>
                <a:highlight>
                  <a:srgbClr val="FFFFFF"/>
                </a:highlight>
                <a:latin typeface="Times New Roman"/>
                <a:ea typeface="Times New Roman"/>
                <a:cs typeface="Times New Roman"/>
                <a:sym typeface="Times New Roman"/>
              </a:rPr>
              <a:t>Ethics</a:t>
            </a:r>
            <a:endParaRPr sz="2400"/>
          </a:p>
        </p:txBody>
      </p:sp>
      <p:sp>
        <p:nvSpPr>
          <p:cNvPr id="328" name="Google Shape;328;p21"/>
          <p:cNvSpPr txBox="1"/>
          <p:nvPr>
            <p:ph idx="1" type="body"/>
          </p:nvPr>
        </p:nvSpPr>
        <p:spPr>
          <a:xfrm>
            <a:off x="1305375" y="995550"/>
            <a:ext cx="7026000" cy="3835800"/>
          </a:xfrm>
          <a:prstGeom prst="rect">
            <a:avLst/>
          </a:prstGeom>
        </p:spPr>
        <p:txBody>
          <a:bodyPr anchorCtr="0" anchor="t" bIns="91425" lIns="91425" spcFirstLastPara="1" rIns="91425" wrap="square" tIns="91425">
            <a:normAutofit fontScale="77500" lnSpcReduction="20000"/>
          </a:bodyPr>
          <a:lstStyle/>
          <a:p>
            <a:pPr indent="0" lvl="0" marL="0" rtl="0" algn="l">
              <a:spcBef>
                <a:spcPts val="1200"/>
              </a:spcBef>
              <a:spcAft>
                <a:spcPts val="0"/>
              </a:spcAft>
              <a:buNone/>
            </a:pPr>
            <a:r>
              <a:rPr b="1" lang="en" sz="2466">
                <a:solidFill>
                  <a:srgbClr val="000000"/>
                </a:solidFill>
                <a:latin typeface="Times"/>
                <a:ea typeface="Times"/>
                <a:cs typeface="Times"/>
                <a:sym typeface="Times"/>
              </a:rPr>
              <a:t>Ethics Authority / Committee</a:t>
            </a:r>
            <a:endParaRPr b="1" sz="2466">
              <a:solidFill>
                <a:srgbClr val="000000"/>
              </a:solidFill>
              <a:latin typeface="Times"/>
              <a:ea typeface="Times"/>
              <a:cs typeface="Times"/>
              <a:sym typeface="Times"/>
            </a:endParaRPr>
          </a:p>
          <a:p>
            <a:pPr indent="-345045" lvl="0" marL="457200" rtl="0" algn="l">
              <a:spcBef>
                <a:spcPts val="1200"/>
              </a:spcBef>
              <a:spcAft>
                <a:spcPts val="0"/>
              </a:spcAft>
              <a:buClr>
                <a:srgbClr val="000000"/>
              </a:buClr>
              <a:buSzPct val="100000"/>
              <a:buFont typeface="Times"/>
              <a:buChar char="●"/>
            </a:pPr>
            <a:r>
              <a:rPr lang="en" sz="2366">
                <a:solidFill>
                  <a:srgbClr val="000000"/>
                </a:solidFill>
                <a:latin typeface="Times"/>
                <a:ea typeface="Times"/>
                <a:cs typeface="Times"/>
                <a:sym typeface="Times"/>
              </a:rPr>
              <a:t>Reviewed by the university's </a:t>
            </a:r>
            <a:r>
              <a:rPr b="1" lang="en" sz="2366">
                <a:solidFill>
                  <a:srgbClr val="000000"/>
                </a:solidFill>
                <a:latin typeface="Times"/>
                <a:ea typeface="Times"/>
                <a:cs typeface="Times"/>
                <a:sym typeface="Times"/>
              </a:rPr>
              <a:t>IRB</a:t>
            </a:r>
            <a:endParaRPr b="1" sz="2366">
              <a:solidFill>
                <a:srgbClr val="000000"/>
              </a:solidFill>
              <a:latin typeface="Times"/>
              <a:ea typeface="Times"/>
              <a:cs typeface="Times"/>
              <a:sym typeface="Times"/>
            </a:endParaRPr>
          </a:p>
          <a:p>
            <a:pPr indent="-345045" lvl="0" marL="457200" rtl="0" algn="l">
              <a:spcBef>
                <a:spcPts val="0"/>
              </a:spcBef>
              <a:spcAft>
                <a:spcPts val="0"/>
              </a:spcAft>
              <a:buClr>
                <a:srgbClr val="000000"/>
              </a:buClr>
              <a:buSzPct val="100000"/>
              <a:buFont typeface="Times"/>
              <a:buChar char="●"/>
            </a:pPr>
            <a:r>
              <a:rPr lang="en" sz="2366">
                <a:solidFill>
                  <a:srgbClr val="000000"/>
                </a:solidFill>
                <a:latin typeface="Times"/>
                <a:ea typeface="Times"/>
                <a:cs typeface="Times"/>
                <a:sym typeface="Times"/>
              </a:rPr>
              <a:t>Ensures participant rights, privacy, and safety</a:t>
            </a:r>
            <a:endParaRPr sz="2366">
              <a:solidFill>
                <a:srgbClr val="000000"/>
              </a:solidFill>
              <a:latin typeface="Times"/>
              <a:ea typeface="Times"/>
              <a:cs typeface="Times"/>
              <a:sym typeface="Times"/>
            </a:endParaRPr>
          </a:p>
          <a:p>
            <a:pPr indent="0" lvl="0" marL="0" rtl="0" algn="l">
              <a:spcBef>
                <a:spcPts val="1200"/>
              </a:spcBef>
              <a:spcAft>
                <a:spcPts val="0"/>
              </a:spcAft>
              <a:buNone/>
            </a:pPr>
            <a:r>
              <a:rPr b="1" lang="en" sz="2466">
                <a:solidFill>
                  <a:srgbClr val="000000"/>
                </a:solidFill>
                <a:latin typeface="Times"/>
                <a:ea typeface="Times"/>
                <a:cs typeface="Times"/>
                <a:sym typeface="Times"/>
              </a:rPr>
              <a:t>Approval &amp; Data Protection</a:t>
            </a:r>
            <a:endParaRPr b="1" sz="2466">
              <a:solidFill>
                <a:srgbClr val="000000"/>
              </a:solidFill>
              <a:latin typeface="Times"/>
              <a:ea typeface="Times"/>
              <a:cs typeface="Times"/>
              <a:sym typeface="Times"/>
            </a:endParaRPr>
          </a:p>
          <a:p>
            <a:pPr indent="-345045" lvl="0" marL="457200" rtl="0" algn="l">
              <a:spcBef>
                <a:spcPts val="1200"/>
              </a:spcBef>
              <a:spcAft>
                <a:spcPts val="0"/>
              </a:spcAft>
              <a:buClr>
                <a:srgbClr val="000000"/>
              </a:buClr>
              <a:buSzPct val="100000"/>
              <a:buFont typeface="Times"/>
              <a:buChar char="●"/>
            </a:pPr>
            <a:r>
              <a:rPr lang="en" sz="2366">
                <a:solidFill>
                  <a:srgbClr val="000000"/>
                </a:solidFill>
                <a:latin typeface="Times"/>
                <a:ea typeface="Times"/>
                <a:cs typeface="Times"/>
                <a:sym typeface="Times"/>
              </a:rPr>
              <a:t>Submit consent forms, recruitment materials, and data protection plans</a:t>
            </a:r>
            <a:endParaRPr sz="2366">
              <a:solidFill>
                <a:srgbClr val="000000"/>
              </a:solidFill>
              <a:latin typeface="Times"/>
              <a:ea typeface="Times"/>
              <a:cs typeface="Times"/>
              <a:sym typeface="Times"/>
            </a:endParaRPr>
          </a:p>
          <a:p>
            <a:pPr indent="-345045" lvl="0" marL="457200" rtl="0" algn="l">
              <a:spcBef>
                <a:spcPts val="0"/>
              </a:spcBef>
              <a:spcAft>
                <a:spcPts val="0"/>
              </a:spcAft>
              <a:buClr>
                <a:srgbClr val="000000"/>
              </a:buClr>
              <a:buSzPct val="100000"/>
              <a:buFont typeface="Times"/>
              <a:buChar char="●"/>
            </a:pPr>
            <a:r>
              <a:rPr lang="en" sz="2366">
                <a:solidFill>
                  <a:srgbClr val="000000"/>
                </a:solidFill>
                <a:latin typeface="Times"/>
                <a:ea typeface="Times"/>
                <a:cs typeface="Times"/>
                <a:sym typeface="Times"/>
              </a:rPr>
              <a:t>Informed consent required before participation</a:t>
            </a:r>
            <a:endParaRPr sz="2366">
              <a:solidFill>
                <a:srgbClr val="000000"/>
              </a:solidFill>
              <a:latin typeface="Times"/>
              <a:ea typeface="Times"/>
              <a:cs typeface="Times"/>
              <a:sym typeface="Times"/>
            </a:endParaRPr>
          </a:p>
          <a:p>
            <a:pPr indent="-345045" lvl="0" marL="457200" rtl="0" algn="l">
              <a:spcBef>
                <a:spcPts val="0"/>
              </a:spcBef>
              <a:spcAft>
                <a:spcPts val="0"/>
              </a:spcAft>
              <a:buClr>
                <a:srgbClr val="000000"/>
              </a:buClr>
              <a:buSzPct val="100000"/>
              <a:buFont typeface="Times"/>
              <a:buChar char="●"/>
            </a:pPr>
            <a:r>
              <a:rPr lang="en" sz="2366">
                <a:solidFill>
                  <a:srgbClr val="000000"/>
                </a:solidFill>
                <a:latin typeface="Times"/>
                <a:ea typeface="Times"/>
                <a:cs typeface="Times"/>
                <a:sym typeface="Times"/>
              </a:rPr>
              <a:t>Identifying information anonymized or redacted</a:t>
            </a:r>
            <a:endParaRPr sz="2366">
              <a:solidFill>
                <a:srgbClr val="000000"/>
              </a:solidFill>
              <a:latin typeface="Times"/>
              <a:ea typeface="Times"/>
              <a:cs typeface="Times"/>
              <a:sym typeface="Times"/>
            </a:endParaRPr>
          </a:p>
          <a:p>
            <a:pPr indent="-345045" lvl="0" marL="457200" rtl="0" algn="l">
              <a:spcBef>
                <a:spcPts val="0"/>
              </a:spcBef>
              <a:spcAft>
                <a:spcPts val="0"/>
              </a:spcAft>
              <a:buClr>
                <a:srgbClr val="000000"/>
              </a:buClr>
              <a:buSzPct val="100000"/>
              <a:buFont typeface="Times"/>
              <a:buChar char="●"/>
            </a:pPr>
            <a:r>
              <a:rPr lang="en" sz="2366">
                <a:solidFill>
                  <a:srgbClr val="000000"/>
                </a:solidFill>
                <a:latin typeface="Times"/>
                <a:ea typeface="Times"/>
                <a:cs typeface="Times"/>
                <a:sym typeface="Times"/>
              </a:rPr>
              <a:t>Data stored in encrypted, password-protected storage</a:t>
            </a:r>
            <a:endParaRPr sz="2366">
              <a:solidFill>
                <a:srgbClr val="000000"/>
              </a:solidFill>
              <a:latin typeface="Times"/>
              <a:ea typeface="Times"/>
              <a:cs typeface="Times"/>
              <a:sym typeface="Times"/>
            </a:endParaRPr>
          </a:p>
          <a:p>
            <a:pPr indent="-345045" lvl="0" marL="457200" rtl="0" algn="l">
              <a:spcBef>
                <a:spcPts val="0"/>
              </a:spcBef>
              <a:spcAft>
                <a:spcPts val="0"/>
              </a:spcAft>
              <a:buClr>
                <a:srgbClr val="000000"/>
              </a:buClr>
              <a:buSzPct val="100000"/>
              <a:buFont typeface="Times"/>
              <a:buChar char="●"/>
            </a:pPr>
            <a:r>
              <a:rPr lang="en" sz="2366">
                <a:solidFill>
                  <a:srgbClr val="000000"/>
                </a:solidFill>
                <a:latin typeface="Times"/>
                <a:ea typeface="Times"/>
                <a:cs typeface="Times"/>
                <a:sym typeface="Times"/>
              </a:rPr>
              <a:t>Participants may withdraw at any time</a:t>
            </a:r>
            <a:endParaRPr b="1" sz="2466">
              <a:solidFill>
                <a:srgbClr val="000000"/>
              </a:solidFill>
              <a:latin typeface="Times"/>
              <a:ea typeface="Times"/>
              <a:cs typeface="Times"/>
              <a:sym typeface="Times"/>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2"/>
          <p:cNvSpPr txBox="1"/>
          <p:nvPr>
            <p:ph type="title"/>
          </p:nvPr>
        </p:nvSpPr>
        <p:spPr>
          <a:xfrm>
            <a:off x="2546025" y="654325"/>
            <a:ext cx="4155600" cy="6780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500"/>
              </a:spcAft>
              <a:buNone/>
            </a:pPr>
            <a:r>
              <a:rPr lang="en" sz="2400">
                <a:solidFill>
                  <a:srgbClr val="273540"/>
                </a:solidFill>
                <a:highlight>
                  <a:srgbClr val="FFFFFF"/>
                </a:highlight>
                <a:latin typeface="Times New Roman"/>
                <a:ea typeface="Times New Roman"/>
                <a:cs typeface="Times New Roman"/>
                <a:sym typeface="Times New Roman"/>
              </a:rPr>
              <a:t>Study Limitations</a:t>
            </a:r>
            <a:endParaRPr sz="3400"/>
          </a:p>
        </p:txBody>
      </p:sp>
      <p:sp>
        <p:nvSpPr>
          <p:cNvPr id="334" name="Google Shape;334;p22"/>
          <p:cNvSpPr txBox="1"/>
          <p:nvPr>
            <p:ph idx="1" type="body"/>
          </p:nvPr>
        </p:nvSpPr>
        <p:spPr>
          <a:xfrm>
            <a:off x="1441875" y="1454800"/>
            <a:ext cx="6363900" cy="2953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Clr>
                <a:srgbClr val="000000"/>
              </a:buClr>
              <a:buSzPts val="2200"/>
              <a:buFont typeface="Times New Roman"/>
              <a:buChar char="●"/>
            </a:pPr>
            <a:r>
              <a:rPr lang="en" sz="2200">
                <a:solidFill>
                  <a:srgbClr val="000000"/>
                </a:solidFill>
                <a:latin typeface="Times New Roman"/>
                <a:ea typeface="Times New Roman"/>
                <a:cs typeface="Times New Roman"/>
                <a:sym typeface="Times New Roman"/>
              </a:rPr>
              <a:t>No access to internal platform algorithms, impression logs, or moderation records</a:t>
            </a:r>
            <a:endParaRPr sz="2200">
              <a:solidFill>
                <a:srgbClr val="000000"/>
              </a:solidFill>
              <a:latin typeface="Times New Roman"/>
              <a:ea typeface="Times New Roman"/>
              <a:cs typeface="Times New Roman"/>
              <a:sym typeface="Times New Roman"/>
            </a:endParaRPr>
          </a:p>
          <a:p>
            <a:pPr indent="-368300" lvl="0" marL="457200" rtl="0" algn="l">
              <a:spcBef>
                <a:spcPts val="0"/>
              </a:spcBef>
              <a:spcAft>
                <a:spcPts val="0"/>
              </a:spcAft>
              <a:buClr>
                <a:srgbClr val="000000"/>
              </a:buClr>
              <a:buSzPts val="2200"/>
              <a:buFont typeface="Times New Roman"/>
              <a:buChar char="●"/>
            </a:pPr>
            <a:r>
              <a:rPr lang="en" sz="2200">
                <a:solidFill>
                  <a:srgbClr val="000000"/>
                </a:solidFill>
                <a:latin typeface="Times New Roman"/>
                <a:ea typeface="Times New Roman"/>
                <a:cs typeface="Times New Roman"/>
                <a:sym typeface="Times New Roman"/>
              </a:rPr>
              <a:t>Small sample size of 10–15 students/young adults</a:t>
            </a:r>
            <a:endParaRPr sz="2200">
              <a:solidFill>
                <a:srgbClr val="000000"/>
              </a:solidFill>
              <a:latin typeface="Times New Roman"/>
              <a:ea typeface="Times New Roman"/>
              <a:cs typeface="Times New Roman"/>
              <a:sym typeface="Times New Roman"/>
            </a:endParaRPr>
          </a:p>
          <a:p>
            <a:pPr indent="-368300" lvl="0" marL="457200" rtl="0" algn="l">
              <a:spcBef>
                <a:spcPts val="0"/>
              </a:spcBef>
              <a:spcAft>
                <a:spcPts val="0"/>
              </a:spcAft>
              <a:buClr>
                <a:srgbClr val="000000"/>
              </a:buClr>
              <a:buSzPts val="2200"/>
              <a:buFont typeface="Times New Roman"/>
              <a:buChar char="●"/>
            </a:pPr>
            <a:r>
              <a:rPr lang="en" sz="2200">
                <a:solidFill>
                  <a:srgbClr val="000000"/>
                </a:solidFill>
                <a:latin typeface="Times New Roman"/>
                <a:ea typeface="Times New Roman"/>
                <a:cs typeface="Times New Roman"/>
                <a:sym typeface="Times New Roman"/>
              </a:rPr>
              <a:t>Participants may not represent all activists, creators, or global users</a:t>
            </a:r>
            <a:endParaRPr sz="2200">
              <a:solidFill>
                <a:srgbClr val="000000"/>
              </a:solidFill>
              <a:latin typeface="Times New Roman"/>
              <a:ea typeface="Times New Roman"/>
              <a:cs typeface="Times New Roman"/>
              <a:sym typeface="Times New Roman"/>
            </a:endParaRPr>
          </a:p>
          <a:p>
            <a:pPr indent="-368300" lvl="0" marL="457200" rtl="0" algn="l">
              <a:spcBef>
                <a:spcPts val="0"/>
              </a:spcBef>
              <a:spcAft>
                <a:spcPts val="0"/>
              </a:spcAft>
              <a:buClr>
                <a:srgbClr val="000000"/>
              </a:buClr>
              <a:buSzPts val="2200"/>
              <a:buFont typeface="Times New Roman"/>
              <a:buChar char="●"/>
            </a:pPr>
            <a:r>
              <a:rPr lang="en" sz="2200">
                <a:solidFill>
                  <a:srgbClr val="000000"/>
                </a:solidFill>
                <a:latin typeface="Times New Roman"/>
                <a:ea typeface="Times New Roman"/>
                <a:cs typeface="Times New Roman"/>
                <a:sym typeface="Times New Roman"/>
              </a:rPr>
              <a:t>Engagement metrics cannot fully prove suppression or amplification</a:t>
            </a:r>
            <a:endParaRPr sz="2200">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Reference </a:t>
            </a:r>
            <a:endParaRPr>
              <a:latin typeface="Times New Roman"/>
              <a:ea typeface="Times New Roman"/>
              <a:cs typeface="Times New Roman"/>
              <a:sym typeface="Times New Roman"/>
            </a:endParaRPr>
          </a:p>
        </p:txBody>
      </p:sp>
      <p:sp>
        <p:nvSpPr>
          <p:cNvPr id="340" name="Google Shape;340;p23"/>
          <p:cNvSpPr txBox="1"/>
          <p:nvPr>
            <p:ph idx="1" type="body"/>
          </p:nvPr>
        </p:nvSpPr>
        <p:spPr>
          <a:xfrm>
            <a:off x="1303800" y="1134500"/>
            <a:ext cx="7513500" cy="38346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sz="1200">
                <a:solidFill>
                  <a:srgbClr val="000000"/>
                </a:solidFill>
                <a:latin typeface="Times New Roman"/>
                <a:ea typeface="Times New Roman"/>
                <a:cs typeface="Times New Roman"/>
                <a:sym typeface="Times New Roman"/>
              </a:rPr>
              <a:t>Gearhart, S., Moe, A., &amp; Zhang, B. (2020). Hostile media bias on social media: Testing the effect of user comments on perceptions of news bias and credibility. </a:t>
            </a:r>
            <a:r>
              <a:rPr i="1" lang="en" sz="1200">
                <a:solidFill>
                  <a:srgbClr val="000000"/>
                </a:solidFill>
                <a:latin typeface="Times New Roman"/>
                <a:ea typeface="Times New Roman"/>
                <a:cs typeface="Times New Roman"/>
                <a:sym typeface="Times New Roman"/>
              </a:rPr>
              <a:t>Human Behavior and Emerging Technologies</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2</a:t>
            </a:r>
            <a:r>
              <a:rPr lang="en" sz="1200">
                <a:solidFill>
                  <a:srgbClr val="000000"/>
                </a:solidFill>
                <a:latin typeface="Times New Roman"/>
                <a:ea typeface="Times New Roman"/>
                <a:cs typeface="Times New Roman"/>
                <a:sym typeface="Times New Roman"/>
              </a:rPr>
              <a:t>(2). https://doi.org/10.1002/hbe2.185</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rgbClr val="000000"/>
                </a:solidFill>
                <a:latin typeface="Times New Roman"/>
                <a:ea typeface="Times New Roman"/>
                <a:cs typeface="Times New Roman"/>
                <a:sym typeface="Times New Roman"/>
              </a:rPr>
              <a:t>‌Uldam, J. (2018). Social media visibility: challenges to activism. </a:t>
            </a:r>
            <a:r>
              <a:rPr i="1" lang="en" sz="1200">
                <a:solidFill>
                  <a:srgbClr val="000000"/>
                </a:solidFill>
                <a:latin typeface="Times New Roman"/>
                <a:ea typeface="Times New Roman"/>
                <a:cs typeface="Times New Roman"/>
                <a:sym typeface="Times New Roman"/>
              </a:rPr>
              <a:t>Media, Culture &amp; Society</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40</a:t>
            </a:r>
            <a:r>
              <a:rPr lang="en" sz="1200">
                <a:solidFill>
                  <a:srgbClr val="000000"/>
                </a:solidFill>
                <a:latin typeface="Times New Roman"/>
                <a:ea typeface="Times New Roman"/>
                <a:cs typeface="Times New Roman"/>
                <a:sym typeface="Times New Roman"/>
              </a:rPr>
              <a:t>(1), 41–58. https://doi.org/10.1177/0163443717704997</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rgbClr val="000000"/>
                </a:solidFill>
                <a:latin typeface="Times New Roman"/>
                <a:ea typeface="Times New Roman"/>
                <a:cs typeface="Times New Roman"/>
                <a:sym typeface="Times New Roman"/>
              </a:rPr>
              <a:t>‌Cammaerts, B. (2015). Social media and activism. </a:t>
            </a:r>
            <a:r>
              <a:rPr i="1" lang="en" sz="1200">
                <a:solidFill>
                  <a:srgbClr val="000000"/>
                </a:solidFill>
                <a:latin typeface="Times New Roman"/>
                <a:ea typeface="Times New Roman"/>
                <a:cs typeface="Times New Roman"/>
                <a:sym typeface="Times New Roman"/>
              </a:rPr>
              <a:t>Lse.ac.uk</a:t>
            </a:r>
            <a:r>
              <a:rPr lang="en" sz="1200">
                <a:solidFill>
                  <a:srgbClr val="000000"/>
                </a:solidFill>
                <a:latin typeface="Times New Roman"/>
                <a:ea typeface="Times New Roman"/>
                <a:cs typeface="Times New Roman"/>
                <a:sym typeface="Times New Roman"/>
              </a:rPr>
              <a:t>. https://researchonline.lse.ac.uk/id/eprint/62090/1/Social_media_and.pdf </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rgbClr val="000000"/>
                </a:solidFill>
                <a:latin typeface="Times New Roman"/>
                <a:ea typeface="Times New Roman"/>
                <a:cs typeface="Times New Roman"/>
                <a:sym typeface="Times New Roman"/>
              </a:rPr>
              <a:t>Elmimouni, H., Rüller, S., Aal, K., Skop, Y., Abokhodair, N., Wulf, V., &amp; Tolmie, P. (2025). Exploring Algorithmic Resistance: Responses to Social Media Censorship in Activism. </a:t>
            </a:r>
            <a:r>
              <a:rPr i="1" lang="en" sz="1200">
                <a:solidFill>
                  <a:srgbClr val="000000"/>
                </a:solidFill>
                <a:latin typeface="Times New Roman"/>
                <a:ea typeface="Times New Roman"/>
                <a:cs typeface="Times New Roman"/>
                <a:sym typeface="Times New Roman"/>
              </a:rPr>
              <a:t>Proceedings of the ACM on Human-Computer Interaction</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9</a:t>
            </a:r>
            <a:r>
              <a:rPr lang="en" sz="1200">
                <a:solidFill>
                  <a:srgbClr val="000000"/>
                </a:solidFill>
                <a:latin typeface="Times New Roman"/>
                <a:ea typeface="Times New Roman"/>
                <a:cs typeface="Times New Roman"/>
                <a:sym typeface="Times New Roman"/>
              </a:rPr>
              <a:t>(2), Article CSCW072. https://doi.org/10.1145/3710970</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rgbClr val="000000"/>
                </a:solidFill>
                <a:latin typeface="Times New Roman"/>
                <a:ea typeface="Times New Roman"/>
                <a:cs typeface="Times New Roman"/>
                <a:sym typeface="Times New Roman"/>
              </a:rPr>
              <a:t>Sannon, S., Young, J., Shusas, E., &amp; Forte, A. (2023). Disability Activism on Social Media: Sociotechnical Challenges in the Pursuit of Visibility. In T. Goyal, A. Peters, S. Mueller, K. Väänänen, P. O. Kristensson, A. Schmidt, J. R. Williamson, &amp; M. L. Wilson (Eds.), </a:t>
            </a:r>
            <a:r>
              <a:rPr i="1" lang="en" sz="1200">
                <a:solidFill>
                  <a:srgbClr val="000000"/>
                </a:solidFill>
                <a:latin typeface="Times New Roman"/>
                <a:ea typeface="Times New Roman"/>
                <a:cs typeface="Times New Roman"/>
                <a:sym typeface="Times New Roman"/>
              </a:rPr>
              <a:t>Proceedings of the 2023 CHI Conference on Human Factors in Computing Systems</a:t>
            </a:r>
            <a:r>
              <a:rPr lang="en" sz="1200">
                <a:solidFill>
                  <a:srgbClr val="000000"/>
                </a:solidFill>
                <a:latin typeface="Times New Roman"/>
                <a:ea typeface="Times New Roman"/>
                <a:cs typeface="Times New Roman"/>
                <a:sym typeface="Times New Roman"/>
              </a:rPr>
              <a:t> (pp. 1–15). ACM. https://doi.org/10.1145/3544548.3581333</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rgbClr val="000000"/>
                </a:solidFill>
                <a:latin typeface="Times New Roman"/>
                <a:ea typeface="Times New Roman"/>
                <a:cs typeface="Times New Roman"/>
                <a:sym typeface="Times New Roman"/>
              </a:rPr>
              <a:t>Schlosser, A., Subramanian, R., Kirkpatrick, C. E., Butler, A., Boling, K. S., Hample, J., Habecker, P., &amp; Jones, V. (2024). Algorithmic Doors to Community and the Trap of Visibility: TikTok for Harm Reduction Activism in the U.S. Overdose Crisis. </a:t>
            </a:r>
            <a:r>
              <a:rPr i="1" lang="en" sz="1200">
                <a:solidFill>
                  <a:srgbClr val="000000"/>
                </a:solidFill>
                <a:latin typeface="Times New Roman"/>
                <a:ea typeface="Times New Roman"/>
                <a:cs typeface="Times New Roman"/>
                <a:sym typeface="Times New Roman"/>
              </a:rPr>
              <a:t>Contemporary Drug Problems</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51</a:t>
            </a:r>
            <a:r>
              <a:rPr lang="en" sz="1200">
                <a:solidFill>
                  <a:srgbClr val="000000"/>
                </a:solidFill>
                <a:latin typeface="Times New Roman"/>
                <a:ea typeface="Times New Roman"/>
                <a:cs typeface="Times New Roman"/>
                <a:sym typeface="Times New Roman"/>
              </a:rPr>
              <a:t>(2), 67–88. https://doi.org/10.1177/00914509241252031</a:t>
            </a:r>
            <a:endParaRPr sz="12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rgbClr val="000000"/>
                </a:solidFill>
                <a:latin typeface="Times New Roman"/>
                <a:ea typeface="Times New Roman"/>
                <a:cs typeface="Times New Roman"/>
                <a:sym typeface="Times New Roman"/>
              </a:rPr>
              <a:t>Chon, M.-G., &amp; Park, H. (2019). Social Media Activism in the Digital Age: Testing an Integrative Model of Activism on Contentious Issues. </a:t>
            </a:r>
            <a:r>
              <a:rPr i="1" lang="en" sz="1200">
                <a:solidFill>
                  <a:srgbClr val="000000"/>
                </a:solidFill>
                <a:latin typeface="Times New Roman"/>
                <a:ea typeface="Times New Roman"/>
                <a:cs typeface="Times New Roman"/>
                <a:sym typeface="Times New Roman"/>
              </a:rPr>
              <a:t>Journalism &amp; Mass Communication Quarterly</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97</a:t>
            </a:r>
            <a:r>
              <a:rPr lang="en" sz="1200">
                <a:solidFill>
                  <a:srgbClr val="000000"/>
                </a:solidFill>
                <a:latin typeface="Times New Roman"/>
                <a:ea typeface="Times New Roman"/>
                <a:cs typeface="Times New Roman"/>
                <a:sym typeface="Times New Roman"/>
              </a:rPr>
              <a:t>(1), 72–97. https://doi.org/10.1177/1077699019835896</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rgbClr val="000000"/>
                </a:solidFill>
                <a:latin typeface="Times New Roman"/>
                <a:ea typeface="Times New Roman"/>
                <a:cs typeface="Times New Roman"/>
                <a:sym typeface="Times New Roman"/>
              </a:rPr>
              <a:t>‌Abbas, L., Fahmy, S. S., Ayad, S., Ibrahim, M., &amp; Ali, A. H. (2022). TikTok Intifada: Analyzing Social Media Activism Among Youth. </a:t>
            </a:r>
            <a:r>
              <a:rPr i="1" lang="en" sz="1200">
                <a:solidFill>
                  <a:srgbClr val="000000"/>
                </a:solidFill>
                <a:latin typeface="Times New Roman"/>
                <a:ea typeface="Times New Roman"/>
                <a:cs typeface="Times New Roman"/>
                <a:sym typeface="Times New Roman"/>
              </a:rPr>
              <a:t>Online Media and Global Communication</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1</a:t>
            </a:r>
            <a:r>
              <a:rPr lang="en" sz="1200">
                <a:solidFill>
                  <a:srgbClr val="000000"/>
                </a:solidFill>
                <a:latin typeface="Times New Roman"/>
                <a:ea typeface="Times New Roman"/>
                <a:cs typeface="Times New Roman"/>
                <a:sym typeface="Times New Roman"/>
              </a:rPr>
              <a:t>(2), 287–314. https://doi.org/10.1515/omgc-2022-0014</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rPr lang="en" sz="1200">
                <a:solidFill>
                  <a:srgbClr val="000000"/>
                </a:solidFill>
                <a:latin typeface="Times New Roman"/>
                <a:ea typeface="Times New Roman"/>
                <a:cs typeface="Times New Roman"/>
                <a:sym typeface="Times New Roman"/>
              </a:rPr>
              <a:t>‌Cortés-Ramos, A., Torrecilla García, J. A., Landa-Blanco, M., Poleo Gutiérrez, F. J., &amp; Castilla Mesa, M. T. (2021). Activism and Social Media: Youth Participation and Communication. </a:t>
            </a:r>
            <a:r>
              <a:rPr i="1" lang="en" sz="1200">
                <a:solidFill>
                  <a:srgbClr val="000000"/>
                </a:solidFill>
                <a:latin typeface="Times New Roman"/>
                <a:ea typeface="Times New Roman"/>
                <a:cs typeface="Times New Roman"/>
                <a:sym typeface="Times New Roman"/>
              </a:rPr>
              <a:t>Sustainability</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13</a:t>
            </a:r>
            <a:r>
              <a:rPr lang="en" sz="1200">
                <a:solidFill>
                  <a:srgbClr val="000000"/>
                </a:solidFill>
                <a:latin typeface="Times New Roman"/>
                <a:ea typeface="Times New Roman"/>
                <a:cs typeface="Times New Roman"/>
                <a:sym typeface="Times New Roman"/>
              </a:rPr>
              <a:t>(18), 10485. mdpi. https://doi.org/10.3390/su131810485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4"/>
          <p:cNvSpPr txBox="1"/>
          <p:nvPr>
            <p:ph type="title"/>
          </p:nvPr>
        </p:nvSpPr>
        <p:spPr>
          <a:xfrm>
            <a:off x="1388550" y="1640100"/>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